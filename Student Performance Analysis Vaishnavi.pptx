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9" r:id="rId1"/>
  </p:sldMasterIdLst>
  <p:sldIdLst>
    <p:sldId id="256" r:id="rId2"/>
    <p:sldId id="257" r:id="rId3"/>
    <p:sldId id="258" r:id="rId4"/>
    <p:sldId id="259" r:id="rId5"/>
    <p:sldId id="260" r:id="rId6"/>
    <p:sldId id="261" r:id="rId7"/>
    <p:sldId id="262" r:id="rId8"/>
    <p:sldId id="263" r:id="rId9"/>
    <p:sldId id="264" r:id="rId10"/>
    <p:sldId id="269"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51E374A4-A6A5-44B6-9C8A-971C4E100ECB}"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F98B80A8-D094-4108-8979-58F09F215611}">
      <dgm:prSet/>
      <dgm:spPr/>
      <dgm:t>
        <a:bodyPr/>
        <a:lstStyle/>
        <a:p>
          <a:r>
            <a:rPr lang="en-US" b="1"/>
            <a:t>This data is about approaching student achievement in secondary education of two Portuguese schools. </a:t>
          </a:r>
          <a:endParaRPr lang="en-US"/>
        </a:p>
      </dgm:t>
    </dgm:pt>
    <dgm:pt modelId="{98DFA67E-4474-4F63-ADC2-F791C250117D}" type="parTrans" cxnId="{C4B0269D-3BAE-49C1-89B6-289221F7B0B6}">
      <dgm:prSet/>
      <dgm:spPr/>
      <dgm:t>
        <a:bodyPr/>
        <a:lstStyle/>
        <a:p>
          <a:endParaRPr lang="en-US"/>
        </a:p>
      </dgm:t>
    </dgm:pt>
    <dgm:pt modelId="{52C20B04-11F6-406A-A268-9BD1C0BC25F0}" type="sibTrans" cxnId="{C4B0269D-3BAE-49C1-89B6-289221F7B0B6}">
      <dgm:prSet/>
      <dgm:spPr/>
      <dgm:t>
        <a:bodyPr/>
        <a:lstStyle/>
        <a:p>
          <a:endParaRPr lang="en-US"/>
        </a:p>
      </dgm:t>
    </dgm:pt>
    <dgm:pt modelId="{3CB40226-6699-4C40-8ECD-A989B1104D04}">
      <dgm:prSet/>
      <dgm:spPr/>
      <dgm:t>
        <a:bodyPr/>
        <a:lstStyle/>
        <a:p>
          <a:r>
            <a:rPr lang="en-US" b="1"/>
            <a:t>The data attributes include student grades, demographic, social and school related features) and it was collected by using school reports and questionnaires. </a:t>
          </a:r>
          <a:endParaRPr lang="en-US"/>
        </a:p>
      </dgm:t>
    </dgm:pt>
    <dgm:pt modelId="{42265C91-03C0-427D-95C0-C9D8B382E407}" type="parTrans" cxnId="{E527A217-D8B5-4C33-988B-B7DE6007B3DD}">
      <dgm:prSet/>
      <dgm:spPr/>
      <dgm:t>
        <a:bodyPr/>
        <a:lstStyle/>
        <a:p>
          <a:endParaRPr lang="en-US"/>
        </a:p>
      </dgm:t>
    </dgm:pt>
    <dgm:pt modelId="{2BFDF3CB-46B7-470B-9AD2-C436621DE1FB}" type="sibTrans" cxnId="{E527A217-D8B5-4C33-988B-B7DE6007B3DD}">
      <dgm:prSet/>
      <dgm:spPr/>
      <dgm:t>
        <a:bodyPr/>
        <a:lstStyle/>
        <a:p>
          <a:endParaRPr lang="en-US"/>
        </a:p>
      </dgm:t>
    </dgm:pt>
    <dgm:pt modelId="{5C9E6C79-7E5A-458A-BF86-108F2AB0D58B}">
      <dgm:prSet/>
      <dgm:spPr/>
      <dgm:t>
        <a:bodyPr/>
        <a:lstStyle/>
        <a:p>
          <a:r>
            <a:rPr lang="en-US" b="1"/>
            <a:t>Two datasets are provided regarding the performance in two distinct subjects: Mathematics (mat) and Portuguese language (por).</a:t>
          </a:r>
          <a:endParaRPr lang="en-US"/>
        </a:p>
      </dgm:t>
    </dgm:pt>
    <dgm:pt modelId="{CE4274CB-2498-4532-BF54-7C98F6DD5388}" type="parTrans" cxnId="{E896407E-B679-44E5-A06A-D1F2BC572BB4}">
      <dgm:prSet/>
      <dgm:spPr/>
      <dgm:t>
        <a:bodyPr/>
        <a:lstStyle/>
        <a:p>
          <a:endParaRPr lang="en-US"/>
        </a:p>
      </dgm:t>
    </dgm:pt>
    <dgm:pt modelId="{D3F66180-9BB8-4B95-919C-D607B94D06E6}" type="sibTrans" cxnId="{E896407E-B679-44E5-A06A-D1F2BC572BB4}">
      <dgm:prSet/>
      <dgm:spPr/>
      <dgm:t>
        <a:bodyPr/>
        <a:lstStyle/>
        <a:p>
          <a:endParaRPr lang="en-US"/>
        </a:p>
      </dgm:t>
    </dgm:pt>
    <dgm:pt modelId="{6AC23787-007E-4459-8948-28D6D72664EB}" type="pres">
      <dgm:prSet presAssocID="{51E374A4-A6A5-44B6-9C8A-971C4E100ECB}" presName="root" presStyleCnt="0">
        <dgm:presLayoutVars>
          <dgm:dir/>
          <dgm:resizeHandles val="exact"/>
        </dgm:presLayoutVars>
      </dgm:prSet>
      <dgm:spPr/>
    </dgm:pt>
    <dgm:pt modelId="{527C5C99-0467-4C80-A45B-BA77B8900B06}" type="pres">
      <dgm:prSet presAssocID="{F98B80A8-D094-4108-8979-58F09F215611}" presName="compNode" presStyleCnt="0"/>
      <dgm:spPr/>
    </dgm:pt>
    <dgm:pt modelId="{B34268DF-922D-432D-8135-92E040361903}" type="pres">
      <dgm:prSet presAssocID="{F98B80A8-D094-4108-8979-58F09F215611}" presName="bgRect" presStyleLbl="bgShp" presStyleIdx="0" presStyleCnt="3"/>
      <dgm:spPr/>
    </dgm:pt>
    <dgm:pt modelId="{42BA4923-110E-45AE-B51F-AC4B8FBDAE14}" type="pres">
      <dgm:prSet presAssocID="{F98B80A8-D094-4108-8979-58F09F21561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ploma Roll"/>
        </a:ext>
      </dgm:extLst>
    </dgm:pt>
    <dgm:pt modelId="{B2430675-C08C-4160-A322-DFD171ABF6D7}" type="pres">
      <dgm:prSet presAssocID="{F98B80A8-D094-4108-8979-58F09F215611}" presName="spaceRect" presStyleCnt="0"/>
      <dgm:spPr/>
    </dgm:pt>
    <dgm:pt modelId="{0A0D6EE3-025D-4587-8541-9AE6A6F9425A}" type="pres">
      <dgm:prSet presAssocID="{F98B80A8-D094-4108-8979-58F09F215611}" presName="parTx" presStyleLbl="revTx" presStyleIdx="0" presStyleCnt="3">
        <dgm:presLayoutVars>
          <dgm:chMax val="0"/>
          <dgm:chPref val="0"/>
        </dgm:presLayoutVars>
      </dgm:prSet>
      <dgm:spPr/>
    </dgm:pt>
    <dgm:pt modelId="{E62A1743-5FC8-4D4A-B791-C0875F2796F4}" type="pres">
      <dgm:prSet presAssocID="{52C20B04-11F6-406A-A268-9BD1C0BC25F0}" presName="sibTrans" presStyleCnt="0"/>
      <dgm:spPr/>
    </dgm:pt>
    <dgm:pt modelId="{541AF351-EE2D-4D18-BCD6-8F3A4BEF9A25}" type="pres">
      <dgm:prSet presAssocID="{3CB40226-6699-4C40-8ECD-A989B1104D04}" presName="compNode" presStyleCnt="0"/>
      <dgm:spPr/>
    </dgm:pt>
    <dgm:pt modelId="{0B1D159E-58EA-434C-94C7-3D85F0DDAB9C}" type="pres">
      <dgm:prSet presAssocID="{3CB40226-6699-4C40-8ECD-A989B1104D04}" presName="bgRect" presStyleLbl="bgShp" presStyleIdx="1" presStyleCnt="3"/>
      <dgm:spPr/>
    </dgm:pt>
    <dgm:pt modelId="{320F99D5-EB52-4F60-8906-CA5033BF86E9}" type="pres">
      <dgm:prSet presAssocID="{3CB40226-6699-4C40-8ECD-A989B1104D0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hoolhouse"/>
        </a:ext>
      </dgm:extLst>
    </dgm:pt>
    <dgm:pt modelId="{AA473C61-6E60-4BFC-BF3A-EC57368FFCF2}" type="pres">
      <dgm:prSet presAssocID="{3CB40226-6699-4C40-8ECD-A989B1104D04}" presName="spaceRect" presStyleCnt="0"/>
      <dgm:spPr/>
    </dgm:pt>
    <dgm:pt modelId="{42A8B8A0-72DA-4926-BBA6-F34E743B6778}" type="pres">
      <dgm:prSet presAssocID="{3CB40226-6699-4C40-8ECD-A989B1104D04}" presName="parTx" presStyleLbl="revTx" presStyleIdx="1" presStyleCnt="3">
        <dgm:presLayoutVars>
          <dgm:chMax val="0"/>
          <dgm:chPref val="0"/>
        </dgm:presLayoutVars>
      </dgm:prSet>
      <dgm:spPr/>
    </dgm:pt>
    <dgm:pt modelId="{ADAAC692-BBB4-4282-823F-D12A85A08CC4}" type="pres">
      <dgm:prSet presAssocID="{2BFDF3CB-46B7-470B-9AD2-C436621DE1FB}" presName="sibTrans" presStyleCnt="0"/>
      <dgm:spPr/>
    </dgm:pt>
    <dgm:pt modelId="{38887D31-E8FB-4E64-99DA-12F778621FA2}" type="pres">
      <dgm:prSet presAssocID="{5C9E6C79-7E5A-458A-BF86-108F2AB0D58B}" presName="compNode" presStyleCnt="0"/>
      <dgm:spPr/>
    </dgm:pt>
    <dgm:pt modelId="{D9BEDD5B-878B-4AF2-88AE-5EE0CE6624BA}" type="pres">
      <dgm:prSet presAssocID="{5C9E6C79-7E5A-458A-BF86-108F2AB0D58B}" presName="bgRect" presStyleLbl="bgShp" presStyleIdx="2" presStyleCnt="3"/>
      <dgm:spPr/>
    </dgm:pt>
    <dgm:pt modelId="{5C92D9FE-87F7-4CB3-AA49-22993912858B}" type="pres">
      <dgm:prSet presAssocID="{5C9E6C79-7E5A-458A-BF86-108F2AB0D58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46F1333F-9940-4B08-B635-3130D13BFD0A}" type="pres">
      <dgm:prSet presAssocID="{5C9E6C79-7E5A-458A-BF86-108F2AB0D58B}" presName="spaceRect" presStyleCnt="0"/>
      <dgm:spPr/>
    </dgm:pt>
    <dgm:pt modelId="{5DFD58E3-21B5-4EC6-8430-60AFEE74ABDB}" type="pres">
      <dgm:prSet presAssocID="{5C9E6C79-7E5A-458A-BF86-108F2AB0D58B}" presName="parTx" presStyleLbl="revTx" presStyleIdx="2" presStyleCnt="3">
        <dgm:presLayoutVars>
          <dgm:chMax val="0"/>
          <dgm:chPref val="0"/>
        </dgm:presLayoutVars>
      </dgm:prSet>
      <dgm:spPr/>
    </dgm:pt>
  </dgm:ptLst>
  <dgm:cxnLst>
    <dgm:cxn modelId="{E527A217-D8B5-4C33-988B-B7DE6007B3DD}" srcId="{51E374A4-A6A5-44B6-9C8A-971C4E100ECB}" destId="{3CB40226-6699-4C40-8ECD-A989B1104D04}" srcOrd="1" destOrd="0" parTransId="{42265C91-03C0-427D-95C0-C9D8B382E407}" sibTransId="{2BFDF3CB-46B7-470B-9AD2-C436621DE1FB}"/>
    <dgm:cxn modelId="{83350735-11CC-4113-B6FD-5D468CB344C1}" type="presOf" srcId="{F98B80A8-D094-4108-8979-58F09F215611}" destId="{0A0D6EE3-025D-4587-8541-9AE6A6F9425A}" srcOrd="0" destOrd="0" presId="urn:microsoft.com/office/officeart/2018/2/layout/IconVerticalSolidList"/>
    <dgm:cxn modelId="{139CC238-440C-4606-91C2-7EE8973B15D5}" type="presOf" srcId="{51E374A4-A6A5-44B6-9C8A-971C4E100ECB}" destId="{6AC23787-007E-4459-8948-28D6D72664EB}" srcOrd="0" destOrd="0" presId="urn:microsoft.com/office/officeart/2018/2/layout/IconVerticalSolidList"/>
    <dgm:cxn modelId="{E896407E-B679-44E5-A06A-D1F2BC572BB4}" srcId="{51E374A4-A6A5-44B6-9C8A-971C4E100ECB}" destId="{5C9E6C79-7E5A-458A-BF86-108F2AB0D58B}" srcOrd="2" destOrd="0" parTransId="{CE4274CB-2498-4532-BF54-7C98F6DD5388}" sibTransId="{D3F66180-9BB8-4B95-919C-D607B94D06E6}"/>
    <dgm:cxn modelId="{C4B0269D-3BAE-49C1-89B6-289221F7B0B6}" srcId="{51E374A4-A6A5-44B6-9C8A-971C4E100ECB}" destId="{F98B80A8-D094-4108-8979-58F09F215611}" srcOrd="0" destOrd="0" parTransId="{98DFA67E-4474-4F63-ADC2-F791C250117D}" sibTransId="{52C20B04-11F6-406A-A268-9BD1C0BC25F0}"/>
    <dgm:cxn modelId="{E8A480A9-AD7D-41CF-91C7-803781ACBDFA}" type="presOf" srcId="{3CB40226-6699-4C40-8ECD-A989B1104D04}" destId="{42A8B8A0-72DA-4926-BBA6-F34E743B6778}" srcOrd="0" destOrd="0" presId="urn:microsoft.com/office/officeart/2018/2/layout/IconVerticalSolidList"/>
    <dgm:cxn modelId="{DE0C67AA-4312-4DFF-B721-2D7711F3A4D0}" type="presOf" srcId="{5C9E6C79-7E5A-458A-BF86-108F2AB0D58B}" destId="{5DFD58E3-21B5-4EC6-8430-60AFEE74ABDB}" srcOrd="0" destOrd="0" presId="urn:microsoft.com/office/officeart/2018/2/layout/IconVerticalSolidList"/>
    <dgm:cxn modelId="{B3B1AF33-CA36-46FB-B653-F3C9BCEEEDEA}" type="presParOf" srcId="{6AC23787-007E-4459-8948-28D6D72664EB}" destId="{527C5C99-0467-4C80-A45B-BA77B8900B06}" srcOrd="0" destOrd="0" presId="urn:microsoft.com/office/officeart/2018/2/layout/IconVerticalSolidList"/>
    <dgm:cxn modelId="{270D2655-8C97-4E27-8600-A81DD88C6D8B}" type="presParOf" srcId="{527C5C99-0467-4C80-A45B-BA77B8900B06}" destId="{B34268DF-922D-432D-8135-92E040361903}" srcOrd="0" destOrd="0" presId="urn:microsoft.com/office/officeart/2018/2/layout/IconVerticalSolidList"/>
    <dgm:cxn modelId="{31192809-FEBA-4271-B216-C45B7E73C95A}" type="presParOf" srcId="{527C5C99-0467-4C80-A45B-BA77B8900B06}" destId="{42BA4923-110E-45AE-B51F-AC4B8FBDAE14}" srcOrd="1" destOrd="0" presId="urn:microsoft.com/office/officeart/2018/2/layout/IconVerticalSolidList"/>
    <dgm:cxn modelId="{18927D3A-16C6-4F1A-8B33-3D4E46106856}" type="presParOf" srcId="{527C5C99-0467-4C80-A45B-BA77B8900B06}" destId="{B2430675-C08C-4160-A322-DFD171ABF6D7}" srcOrd="2" destOrd="0" presId="urn:microsoft.com/office/officeart/2018/2/layout/IconVerticalSolidList"/>
    <dgm:cxn modelId="{B258840B-B9C2-4273-87A1-BD488E0BFFEB}" type="presParOf" srcId="{527C5C99-0467-4C80-A45B-BA77B8900B06}" destId="{0A0D6EE3-025D-4587-8541-9AE6A6F9425A}" srcOrd="3" destOrd="0" presId="urn:microsoft.com/office/officeart/2018/2/layout/IconVerticalSolidList"/>
    <dgm:cxn modelId="{D977FC3C-7C1D-42C6-B922-1DBC177976BB}" type="presParOf" srcId="{6AC23787-007E-4459-8948-28D6D72664EB}" destId="{E62A1743-5FC8-4D4A-B791-C0875F2796F4}" srcOrd="1" destOrd="0" presId="urn:microsoft.com/office/officeart/2018/2/layout/IconVerticalSolidList"/>
    <dgm:cxn modelId="{69EC7385-3E89-480A-AF84-ADE70E83A259}" type="presParOf" srcId="{6AC23787-007E-4459-8948-28D6D72664EB}" destId="{541AF351-EE2D-4D18-BCD6-8F3A4BEF9A25}" srcOrd="2" destOrd="0" presId="urn:microsoft.com/office/officeart/2018/2/layout/IconVerticalSolidList"/>
    <dgm:cxn modelId="{0004FA13-D101-4733-97BA-A3F4EBF594D2}" type="presParOf" srcId="{541AF351-EE2D-4D18-BCD6-8F3A4BEF9A25}" destId="{0B1D159E-58EA-434C-94C7-3D85F0DDAB9C}" srcOrd="0" destOrd="0" presId="urn:microsoft.com/office/officeart/2018/2/layout/IconVerticalSolidList"/>
    <dgm:cxn modelId="{4E733358-51D6-4D1B-8C49-F06F4BD50769}" type="presParOf" srcId="{541AF351-EE2D-4D18-BCD6-8F3A4BEF9A25}" destId="{320F99D5-EB52-4F60-8906-CA5033BF86E9}" srcOrd="1" destOrd="0" presId="urn:microsoft.com/office/officeart/2018/2/layout/IconVerticalSolidList"/>
    <dgm:cxn modelId="{9FD6CE8F-CF87-468B-B1E4-90E61D94142B}" type="presParOf" srcId="{541AF351-EE2D-4D18-BCD6-8F3A4BEF9A25}" destId="{AA473C61-6E60-4BFC-BF3A-EC57368FFCF2}" srcOrd="2" destOrd="0" presId="urn:microsoft.com/office/officeart/2018/2/layout/IconVerticalSolidList"/>
    <dgm:cxn modelId="{E6D08CAD-8DC4-45D1-A5B2-E0257CA237C9}" type="presParOf" srcId="{541AF351-EE2D-4D18-BCD6-8F3A4BEF9A25}" destId="{42A8B8A0-72DA-4926-BBA6-F34E743B6778}" srcOrd="3" destOrd="0" presId="urn:microsoft.com/office/officeart/2018/2/layout/IconVerticalSolidList"/>
    <dgm:cxn modelId="{F8F71B09-64A2-4A9F-9942-069264715B84}" type="presParOf" srcId="{6AC23787-007E-4459-8948-28D6D72664EB}" destId="{ADAAC692-BBB4-4282-823F-D12A85A08CC4}" srcOrd="3" destOrd="0" presId="urn:microsoft.com/office/officeart/2018/2/layout/IconVerticalSolidList"/>
    <dgm:cxn modelId="{E3AEF9D4-B226-4674-A909-1649E889B13A}" type="presParOf" srcId="{6AC23787-007E-4459-8948-28D6D72664EB}" destId="{38887D31-E8FB-4E64-99DA-12F778621FA2}" srcOrd="4" destOrd="0" presId="urn:microsoft.com/office/officeart/2018/2/layout/IconVerticalSolidList"/>
    <dgm:cxn modelId="{AB75F760-40A1-47BF-BCE4-D0B3EB39F0A5}" type="presParOf" srcId="{38887D31-E8FB-4E64-99DA-12F778621FA2}" destId="{D9BEDD5B-878B-4AF2-88AE-5EE0CE6624BA}" srcOrd="0" destOrd="0" presId="urn:microsoft.com/office/officeart/2018/2/layout/IconVerticalSolidList"/>
    <dgm:cxn modelId="{4F51C9B9-B119-4769-B56A-75E1146DE2AD}" type="presParOf" srcId="{38887D31-E8FB-4E64-99DA-12F778621FA2}" destId="{5C92D9FE-87F7-4CB3-AA49-22993912858B}" srcOrd="1" destOrd="0" presId="urn:microsoft.com/office/officeart/2018/2/layout/IconVerticalSolidList"/>
    <dgm:cxn modelId="{B00CC08F-04C1-4259-8E36-EE9B7F6C4734}" type="presParOf" srcId="{38887D31-E8FB-4E64-99DA-12F778621FA2}" destId="{46F1333F-9940-4B08-B635-3130D13BFD0A}" srcOrd="2" destOrd="0" presId="urn:microsoft.com/office/officeart/2018/2/layout/IconVerticalSolidList"/>
    <dgm:cxn modelId="{59D874AD-958C-46D5-9257-1C489F26DE07}" type="presParOf" srcId="{38887D31-E8FB-4E64-99DA-12F778621FA2}" destId="{5DFD58E3-21B5-4EC6-8430-60AFEE74ABD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268DF-922D-432D-8135-92E040361903}">
      <dsp:nvSpPr>
        <dsp:cNvPr id="0" name=""/>
        <dsp:cNvSpPr/>
      </dsp:nvSpPr>
      <dsp:spPr>
        <a:xfrm>
          <a:off x="0" y="2081"/>
          <a:ext cx="8312785" cy="99502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BA4923-110E-45AE-B51F-AC4B8FBDAE14}">
      <dsp:nvSpPr>
        <dsp:cNvPr id="0" name=""/>
        <dsp:cNvSpPr/>
      </dsp:nvSpPr>
      <dsp:spPr>
        <a:xfrm>
          <a:off x="300996" y="225963"/>
          <a:ext cx="547800" cy="54726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0D6EE3-025D-4587-8541-9AE6A6F9425A}">
      <dsp:nvSpPr>
        <dsp:cNvPr id="0" name=""/>
        <dsp:cNvSpPr/>
      </dsp:nvSpPr>
      <dsp:spPr>
        <a:xfrm>
          <a:off x="1149793" y="2081"/>
          <a:ext cx="7041167" cy="996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10" tIns="105410" rIns="105410" bIns="105410" numCol="1" spcCol="1270" anchor="ctr" anchorCtr="0">
          <a:noAutofit/>
        </a:bodyPr>
        <a:lstStyle/>
        <a:p>
          <a:pPr marL="0" lvl="0" indent="0" algn="l" defTabSz="622300">
            <a:lnSpc>
              <a:spcPct val="90000"/>
            </a:lnSpc>
            <a:spcBef>
              <a:spcPct val="0"/>
            </a:spcBef>
            <a:spcAft>
              <a:spcPct val="35000"/>
            </a:spcAft>
            <a:buNone/>
          </a:pPr>
          <a:r>
            <a:rPr lang="en-US" sz="1400" b="1" kern="1200"/>
            <a:t>This data is about approaching student achievement in secondary education of two Portuguese schools. </a:t>
          </a:r>
          <a:endParaRPr lang="en-US" sz="1400" kern="1200"/>
        </a:p>
      </dsp:txBody>
      <dsp:txXfrm>
        <a:off x="1149793" y="2081"/>
        <a:ext cx="7041167" cy="996001"/>
      </dsp:txXfrm>
    </dsp:sp>
    <dsp:sp modelId="{0B1D159E-58EA-434C-94C7-3D85F0DDAB9C}">
      <dsp:nvSpPr>
        <dsp:cNvPr id="0" name=""/>
        <dsp:cNvSpPr/>
      </dsp:nvSpPr>
      <dsp:spPr>
        <a:xfrm>
          <a:off x="0" y="1207767"/>
          <a:ext cx="8312785" cy="995028"/>
        </a:xfrm>
        <a:prstGeom prst="roundRect">
          <a:avLst>
            <a:gd name="adj" fmla="val 10000"/>
          </a:avLst>
        </a:prstGeom>
        <a:solidFill>
          <a:schemeClr val="accent2">
            <a:hueOff val="-398442"/>
            <a:satOff val="6385"/>
            <a:lumOff val="5784"/>
            <a:alphaOff val="0"/>
          </a:schemeClr>
        </a:solidFill>
        <a:ln>
          <a:noFill/>
        </a:ln>
        <a:effectLst/>
      </dsp:spPr>
      <dsp:style>
        <a:lnRef idx="0">
          <a:scrgbClr r="0" g="0" b="0"/>
        </a:lnRef>
        <a:fillRef idx="1">
          <a:scrgbClr r="0" g="0" b="0"/>
        </a:fillRef>
        <a:effectRef idx="0">
          <a:scrgbClr r="0" g="0" b="0"/>
        </a:effectRef>
        <a:fontRef idx="minor"/>
      </dsp:style>
    </dsp:sp>
    <dsp:sp modelId="{320F99D5-EB52-4F60-8906-CA5033BF86E9}">
      <dsp:nvSpPr>
        <dsp:cNvPr id="0" name=""/>
        <dsp:cNvSpPr/>
      </dsp:nvSpPr>
      <dsp:spPr>
        <a:xfrm>
          <a:off x="300996" y="1431649"/>
          <a:ext cx="547800" cy="54726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A8B8A0-72DA-4926-BBA6-F34E743B6778}">
      <dsp:nvSpPr>
        <dsp:cNvPr id="0" name=""/>
        <dsp:cNvSpPr/>
      </dsp:nvSpPr>
      <dsp:spPr>
        <a:xfrm>
          <a:off x="1149793" y="1207767"/>
          <a:ext cx="7041167" cy="996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10" tIns="105410" rIns="105410" bIns="105410" numCol="1" spcCol="1270" anchor="ctr" anchorCtr="0">
          <a:noAutofit/>
        </a:bodyPr>
        <a:lstStyle/>
        <a:p>
          <a:pPr marL="0" lvl="0" indent="0" algn="l" defTabSz="622300">
            <a:lnSpc>
              <a:spcPct val="90000"/>
            </a:lnSpc>
            <a:spcBef>
              <a:spcPct val="0"/>
            </a:spcBef>
            <a:spcAft>
              <a:spcPct val="35000"/>
            </a:spcAft>
            <a:buNone/>
          </a:pPr>
          <a:r>
            <a:rPr lang="en-US" sz="1400" b="1" kern="1200"/>
            <a:t>The data attributes include student grades, demographic, social and school related features) and it was collected by using school reports and questionnaires. </a:t>
          </a:r>
          <a:endParaRPr lang="en-US" sz="1400" kern="1200"/>
        </a:p>
      </dsp:txBody>
      <dsp:txXfrm>
        <a:off x="1149793" y="1207767"/>
        <a:ext cx="7041167" cy="996001"/>
      </dsp:txXfrm>
    </dsp:sp>
    <dsp:sp modelId="{D9BEDD5B-878B-4AF2-88AE-5EE0CE6624BA}">
      <dsp:nvSpPr>
        <dsp:cNvPr id="0" name=""/>
        <dsp:cNvSpPr/>
      </dsp:nvSpPr>
      <dsp:spPr>
        <a:xfrm>
          <a:off x="0" y="2413453"/>
          <a:ext cx="8312785" cy="995028"/>
        </a:xfrm>
        <a:prstGeom prst="roundRect">
          <a:avLst>
            <a:gd name="adj" fmla="val 10000"/>
          </a:avLst>
        </a:prstGeom>
        <a:solidFill>
          <a:schemeClr val="accent2">
            <a:hueOff val="-796883"/>
            <a:satOff val="12770"/>
            <a:lumOff val="11569"/>
            <a:alphaOff val="0"/>
          </a:schemeClr>
        </a:solidFill>
        <a:ln>
          <a:noFill/>
        </a:ln>
        <a:effectLst/>
      </dsp:spPr>
      <dsp:style>
        <a:lnRef idx="0">
          <a:scrgbClr r="0" g="0" b="0"/>
        </a:lnRef>
        <a:fillRef idx="1">
          <a:scrgbClr r="0" g="0" b="0"/>
        </a:fillRef>
        <a:effectRef idx="0">
          <a:scrgbClr r="0" g="0" b="0"/>
        </a:effectRef>
        <a:fontRef idx="minor"/>
      </dsp:style>
    </dsp:sp>
    <dsp:sp modelId="{5C92D9FE-87F7-4CB3-AA49-22993912858B}">
      <dsp:nvSpPr>
        <dsp:cNvPr id="0" name=""/>
        <dsp:cNvSpPr/>
      </dsp:nvSpPr>
      <dsp:spPr>
        <a:xfrm>
          <a:off x="300996" y="2637335"/>
          <a:ext cx="547800" cy="54726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FD58E3-21B5-4EC6-8430-60AFEE74ABDB}">
      <dsp:nvSpPr>
        <dsp:cNvPr id="0" name=""/>
        <dsp:cNvSpPr/>
      </dsp:nvSpPr>
      <dsp:spPr>
        <a:xfrm>
          <a:off x="1149793" y="2413453"/>
          <a:ext cx="7041167" cy="996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10" tIns="105410" rIns="105410" bIns="105410" numCol="1" spcCol="1270" anchor="ctr" anchorCtr="0">
          <a:noAutofit/>
        </a:bodyPr>
        <a:lstStyle/>
        <a:p>
          <a:pPr marL="0" lvl="0" indent="0" algn="l" defTabSz="622300">
            <a:lnSpc>
              <a:spcPct val="90000"/>
            </a:lnSpc>
            <a:spcBef>
              <a:spcPct val="0"/>
            </a:spcBef>
            <a:spcAft>
              <a:spcPct val="35000"/>
            </a:spcAft>
            <a:buNone/>
          </a:pPr>
          <a:r>
            <a:rPr lang="en-US" sz="1400" b="1" kern="1200"/>
            <a:t>Two datasets are provided regarding the performance in two distinct subjects: Mathematics (mat) and Portuguese language (por).</a:t>
          </a:r>
          <a:endParaRPr lang="en-US" sz="1400" kern="1200"/>
        </a:p>
      </dsp:txBody>
      <dsp:txXfrm>
        <a:off x="1149793" y="2413453"/>
        <a:ext cx="7041167" cy="99600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7/22/2024</a:t>
            </a:fld>
            <a:endParaRPr lang="en-US" dirty="0"/>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dirty="0"/>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dirty="0"/>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4266512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7/22/2024</a:t>
            </a:fld>
            <a:endParaRPr lang="en-US" dirty="0"/>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794134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endParaRPr lang="en-US" dirty="0"/>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dirty="0"/>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7/22/2024</a:t>
            </a:fld>
            <a:endParaRPr lang="en-US" dirty="0"/>
          </a:p>
        </p:txBody>
      </p:sp>
    </p:spTree>
    <p:extLst>
      <p:ext uri="{BB962C8B-B14F-4D97-AF65-F5344CB8AC3E}">
        <p14:creationId xmlns:p14="http://schemas.microsoft.com/office/powerpoint/2010/main" val="1863527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7/22/2024</a:t>
            </a:fld>
            <a:endParaRPr lang="en-US" dirty="0"/>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567295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7/22/2024</a:t>
            </a:fld>
            <a:endParaRPr lang="en-US" dirty="0"/>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0779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7/22/2024</a:t>
            </a:fld>
            <a:endParaRPr lang="en-US" dirty="0"/>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926385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7/22/2024</a:t>
            </a:fld>
            <a:endParaRPr lang="en-US" dirty="0"/>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138198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7/22/2024</a:t>
            </a:fld>
            <a:endParaRPr lang="en-US" dirty="0"/>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dirty="0"/>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139809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7/22/2024</a:t>
            </a:fld>
            <a:endParaRPr lang="en-US" dirty="0"/>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dirty="0"/>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010461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7/22/2024</a:t>
            </a:fld>
            <a:endParaRPr lang="en-US" dirty="0"/>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534484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7/22/2024</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6502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7/22/2024</a:t>
            </a:fld>
            <a:endParaRPr lang="en-US" dirty="0"/>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dirty="0"/>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4766608"/>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88" r:id="rId6"/>
    <p:sldLayoutId id="2147483793" r:id="rId7"/>
    <p:sldLayoutId id="2147483789" r:id="rId8"/>
    <p:sldLayoutId id="2147483790" r:id="rId9"/>
    <p:sldLayoutId id="2147483791" r:id="rId10"/>
    <p:sldLayoutId id="2147483792"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s://fuziahsulaiman.blogspot.com/2018/03/" TargetMode="External"/><Relationship Id="rId2" Type="http://schemas.openxmlformats.org/officeDocument/2006/relationships/image" Target="../media/image19.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9" name="Rectangle 68">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descr="Colored pencils inside a pencil holder which is on top of a wood table">
            <a:extLst>
              <a:ext uri="{FF2B5EF4-FFF2-40B4-BE49-F238E27FC236}">
                <a16:creationId xmlns:a16="http://schemas.microsoft.com/office/drawing/2014/main" id="{32419589-BE19-3C95-B565-8DB3D2755B4B}"/>
              </a:ext>
            </a:extLst>
          </p:cNvPr>
          <p:cNvPicPr>
            <a:picLocks noChangeAspect="1"/>
          </p:cNvPicPr>
          <p:nvPr/>
        </p:nvPicPr>
        <p:blipFill rotWithShape="1">
          <a:blip r:embed="rId2"/>
          <a:srcRect l="12613" r="12614" b="1"/>
          <a:stretch/>
        </p:blipFill>
        <p:spPr>
          <a:xfrm>
            <a:off x="4487333" y="10"/>
            <a:ext cx="7704667" cy="6877868"/>
          </a:xfrm>
          <a:custGeom>
            <a:avLst/>
            <a:gdLst/>
            <a:ahLst/>
            <a:cxnLst/>
            <a:rect l="l" t="t" r="r" b="b"/>
            <a:pathLst>
              <a:path w="7704667" h="6877878">
                <a:moveTo>
                  <a:pt x="0" y="0"/>
                </a:moveTo>
                <a:lnTo>
                  <a:pt x="7704667" y="0"/>
                </a:lnTo>
                <a:lnTo>
                  <a:pt x="7704667" y="6877878"/>
                </a:lnTo>
                <a:lnTo>
                  <a:pt x="0" y="6877878"/>
                </a:lnTo>
                <a:lnTo>
                  <a:pt x="0" y="6867939"/>
                </a:lnTo>
                <a:lnTo>
                  <a:pt x="146217" y="6867939"/>
                </a:lnTo>
                <a:lnTo>
                  <a:pt x="252811" y="6795007"/>
                </a:lnTo>
                <a:cubicBezTo>
                  <a:pt x="428996" y="6667346"/>
                  <a:pt x="601946" y="6529451"/>
                  <a:pt x="776494" y="6388681"/>
                </a:cubicBezTo>
                <a:cubicBezTo>
                  <a:pt x="1734992" y="5615677"/>
                  <a:pt x="2676361" y="4981124"/>
                  <a:pt x="2676361" y="3631852"/>
                </a:cubicBezTo>
                <a:cubicBezTo>
                  <a:pt x="2676361" y="2101350"/>
                  <a:pt x="2094814" y="761014"/>
                  <a:pt x="1053668" y="20384"/>
                </a:cubicBezTo>
                <a:lnTo>
                  <a:pt x="1038069" y="9939"/>
                </a:lnTo>
                <a:lnTo>
                  <a:pt x="0" y="9939"/>
                </a:lnTo>
                <a:close/>
              </a:path>
            </a:pathLst>
          </a:custGeom>
        </p:spPr>
      </p:pic>
      <p:sp>
        <p:nvSpPr>
          <p:cNvPr id="70" name="Freeform: Shape 69">
            <a:extLst>
              <a:ext uri="{FF2B5EF4-FFF2-40B4-BE49-F238E27FC236}">
                <a16:creationId xmlns:a16="http://schemas.microsoft.com/office/drawing/2014/main" id="{DCD36D47-40B7-494B-B249-3CBA333DE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5746" cy="6858000"/>
          </a:xfrm>
          <a:custGeom>
            <a:avLst/>
            <a:gdLst>
              <a:gd name="connsiteX0" fmla="*/ 0 w 7475746"/>
              <a:gd name="connsiteY0" fmla="*/ 0 h 6858000"/>
              <a:gd name="connsiteX1" fmla="*/ 5859459 w 7475746"/>
              <a:gd name="connsiteY1" fmla="*/ 0 h 6858000"/>
              <a:gd name="connsiteX2" fmla="*/ 5874848 w 7475746"/>
              <a:gd name="connsiteY2" fmla="*/ 10445 h 6858000"/>
              <a:gd name="connsiteX3" fmla="*/ 7475746 w 7475746"/>
              <a:gd name="connsiteY3" fmla="*/ 3621913 h 6858000"/>
              <a:gd name="connsiteX4" fmla="*/ 5601397 w 7475746"/>
              <a:gd name="connsiteY4" fmla="*/ 6378742 h 6858000"/>
              <a:gd name="connsiteX5" fmla="*/ 5084748 w 7475746"/>
              <a:gd name="connsiteY5" fmla="*/ 6785068 h 6858000"/>
              <a:gd name="connsiteX6" fmla="*/ 4979585 w 7475746"/>
              <a:gd name="connsiteY6" fmla="*/ 6858000 h 6858000"/>
              <a:gd name="connsiteX7" fmla="*/ 0 w 747574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5746" h="6858000">
                <a:moveTo>
                  <a:pt x="0" y="0"/>
                </a:moveTo>
                <a:lnTo>
                  <a:pt x="5859459" y="0"/>
                </a:lnTo>
                <a:lnTo>
                  <a:pt x="5874848" y="10445"/>
                </a:lnTo>
                <a:cubicBezTo>
                  <a:pt x="6902010" y="751075"/>
                  <a:pt x="7475746" y="2091411"/>
                  <a:pt x="7475746" y="3621913"/>
                </a:cubicBezTo>
                <a:cubicBezTo>
                  <a:pt x="7475746" y="4971185"/>
                  <a:pt x="6547021" y="5605738"/>
                  <a:pt x="5601397" y="6378742"/>
                </a:cubicBezTo>
                <a:cubicBezTo>
                  <a:pt x="5429193" y="6519512"/>
                  <a:pt x="5258566" y="6657407"/>
                  <a:pt x="5084748" y="6785068"/>
                </a:cubicBezTo>
                <a:lnTo>
                  <a:pt x="4979585"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71" name="Freeform: Shape 70">
            <a:extLst>
              <a:ext uri="{FF2B5EF4-FFF2-40B4-BE49-F238E27FC236}">
                <a16:creationId xmlns:a16="http://schemas.microsoft.com/office/drawing/2014/main" id="{03AD0D1C-F8BA-4CD1-BC4D-BE1823F3E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7283242" cy="6858000"/>
          </a:xfrm>
          <a:custGeom>
            <a:avLst/>
            <a:gdLst>
              <a:gd name="connsiteX0" fmla="*/ 0 w 7163694"/>
              <a:gd name="connsiteY0" fmla="*/ 0 h 6858000"/>
              <a:gd name="connsiteX1" fmla="*/ 5525402 w 7163694"/>
              <a:gd name="connsiteY1" fmla="*/ 0 h 6858000"/>
              <a:gd name="connsiteX2" fmla="*/ 5541001 w 7163694"/>
              <a:gd name="connsiteY2" fmla="*/ 10445 h 6858000"/>
              <a:gd name="connsiteX3" fmla="*/ 7163694 w 7163694"/>
              <a:gd name="connsiteY3" fmla="*/ 3621913 h 6858000"/>
              <a:gd name="connsiteX4" fmla="*/ 5263827 w 7163694"/>
              <a:gd name="connsiteY4" fmla="*/ 6378742 h 6858000"/>
              <a:gd name="connsiteX5" fmla="*/ 4740144 w 7163694"/>
              <a:gd name="connsiteY5" fmla="*/ 6785068 h 6858000"/>
              <a:gd name="connsiteX6" fmla="*/ 4633550 w 7163694"/>
              <a:gd name="connsiteY6" fmla="*/ 6858000 h 6858000"/>
              <a:gd name="connsiteX7" fmla="*/ 0 w 7163694"/>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63694" h="6858000">
                <a:moveTo>
                  <a:pt x="0" y="0"/>
                </a:moveTo>
                <a:lnTo>
                  <a:pt x="5525402" y="0"/>
                </a:lnTo>
                <a:lnTo>
                  <a:pt x="5541001" y="10445"/>
                </a:lnTo>
                <a:cubicBezTo>
                  <a:pt x="6582147" y="751075"/>
                  <a:pt x="7163694" y="2091411"/>
                  <a:pt x="7163694" y="3621913"/>
                </a:cubicBezTo>
                <a:cubicBezTo>
                  <a:pt x="7163694" y="4971185"/>
                  <a:pt x="6222325" y="5605738"/>
                  <a:pt x="5263827" y="6378742"/>
                </a:cubicBezTo>
                <a:cubicBezTo>
                  <a:pt x="5089279" y="6519512"/>
                  <a:pt x="4916329" y="6657407"/>
                  <a:pt x="4740144" y="6785068"/>
                </a:cubicBezTo>
                <a:lnTo>
                  <a:pt x="4633550"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5" name="Freeform: Shape 34">
            <a:extLst>
              <a:ext uri="{FF2B5EF4-FFF2-40B4-BE49-F238E27FC236}">
                <a16:creationId xmlns:a16="http://schemas.microsoft.com/office/drawing/2014/main" id="{FBA7E51E-7B6A-4A79-8F84-47C845C7A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98368"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0B5F537C-7BDC-B992-A8DB-92B0B3AFEBA6}"/>
              </a:ext>
            </a:extLst>
          </p:cNvPr>
          <p:cNvSpPr>
            <a:spLocks noGrp="1"/>
          </p:cNvSpPr>
          <p:nvPr>
            <p:ph type="ctrTitle"/>
          </p:nvPr>
        </p:nvSpPr>
        <p:spPr>
          <a:xfrm>
            <a:off x="1180531" y="1346268"/>
            <a:ext cx="5274860" cy="3066706"/>
          </a:xfrm>
        </p:spPr>
        <p:txBody>
          <a:bodyPr anchor="b">
            <a:normAutofit/>
          </a:bodyPr>
          <a:lstStyle/>
          <a:p>
            <a:pPr>
              <a:lnSpc>
                <a:spcPct val="110000"/>
              </a:lnSpc>
            </a:pPr>
            <a:r>
              <a:rPr lang="en-US" sz="5600" b="1" dirty="0"/>
              <a:t>Student Performance Analysis</a:t>
            </a:r>
            <a:endParaRPr lang="en-US" sz="5600" dirty="0"/>
          </a:p>
        </p:txBody>
      </p:sp>
      <p:sp>
        <p:nvSpPr>
          <p:cNvPr id="3" name="Subtitle 2">
            <a:extLst>
              <a:ext uri="{FF2B5EF4-FFF2-40B4-BE49-F238E27FC236}">
                <a16:creationId xmlns:a16="http://schemas.microsoft.com/office/drawing/2014/main" id="{7BF6B832-66F9-655E-2C7B-43DBF42467E3}"/>
              </a:ext>
            </a:extLst>
          </p:cNvPr>
          <p:cNvSpPr>
            <a:spLocks noGrp="1"/>
          </p:cNvSpPr>
          <p:nvPr>
            <p:ph type="subTitle" idx="1"/>
          </p:nvPr>
        </p:nvSpPr>
        <p:spPr>
          <a:xfrm>
            <a:off x="1201212" y="4412974"/>
            <a:ext cx="4162357" cy="1576188"/>
          </a:xfrm>
        </p:spPr>
        <p:txBody>
          <a:bodyPr anchor="t">
            <a:normAutofit/>
          </a:bodyPr>
          <a:lstStyle/>
          <a:p>
            <a:r>
              <a:rPr lang="en-US"/>
              <a:t>Vaishnavi Dacharaju</a:t>
            </a:r>
          </a:p>
          <a:p>
            <a:r>
              <a:rPr lang="en-US"/>
              <a:t>1309564</a:t>
            </a:r>
          </a:p>
        </p:txBody>
      </p:sp>
    </p:spTree>
    <p:extLst>
      <p:ext uri="{BB962C8B-B14F-4D97-AF65-F5344CB8AC3E}">
        <p14:creationId xmlns:p14="http://schemas.microsoft.com/office/powerpoint/2010/main" val="3134224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7FC6A8B-34F9-40FB-AA2D-E34168F52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1" name="Freeform: Shape 10">
            <a:extLst>
              <a:ext uri="{FF2B5EF4-FFF2-40B4-BE49-F238E27FC236}">
                <a16:creationId xmlns:a16="http://schemas.microsoft.com/office/drawing/2014/main" id="{1EC86DB4-572A-4F71-AF8A-2395B4CA7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756583" y="0"/>
            <a:ext cx="11435265" cy="6858000"/>
          </a:xfrm>
          <a:custGeom>
            <a:avLst/>
            <a:gdLst>
              <a:gd name="connsiteX0" fmla="*/ 9925983 w 11435265"/>
              <a:gd name="connsiteY0" fmla="*/ 6858000 h 6858000"/>
              <a:gd name="connsiteX1" fmla="*/ 0 w 11435265"/>
              <a:gd name="connsiteY1" fmla="*/ 6858000 h 6858000"/>
              <a:gd name="connsiteX2" fmla="*/ 0 w 11435265"/>
              <a:gd name="connsiteY2" fmla="*/ 0 h 6858000"/>
              <a:gd name="connsiteX3" fmla="*/ 996904 w 11435265"/>
              <a:gd name="connsiteY3" fmla="*/ 0 h 6858000"/>
              <a:gd name="connsiteX4" fmla="*/ 2426875 w 11435265"/>
              <a:gd name="connsiteY4" fmla="*/ 0 h 6858000"/>
              <a:gd name="connsiteX5" fmla="*/ 4014127 w 11435265"/>
              <a:gd name="connsiteY5" fmla="*/ 0 h 6858000"/>
              <a:gd name="connsiteX6" fmla="*/ 4359595 w 11435265"/>
              <a:gd name="connsiteY6" fmla="*/ 0 h 6858000"/>
              <a:gd name="connsiteX7" fmla="*/ 4647960 w 11435265"/>
              <a:gd name="connsiteY7" fmla="*/ 0 h 6858000"/>
              <a:gd name="connsiteX8" fmla="*/ 4691093 w 11435265"/>
              <a:gd name="connsiteY8" fmla="*/ 0 h 6858000"/>
              <a:gd name="connsiteX9" fmla="*/ 5558544 w 11435265"/>
              <a:gd name="connsiteY9" fmla="*/ 0 h 6858000"/>
              <a:gd name="connsiteX10" fmla="*/ 5570664 w 11435265"/>
              <a:gd name="connsiteY10" fmla="*/ 0 h 6858000"/>
              <a:gd name="connsiteX11" fmla="*/ 5695183 w 11435265"/>
              <a:gd name="connsiteY11" fmla="*/ 0 h 6858000"/>
              <a:gd name="connsiteX12" fmla="*/ 7177357 w 11435265"/>
              <a:gd name="connsiteY12" fmla="*/ 0 h 6858000"/>
              <a:gd name="connsiteX13" fmla="*/ 9824163 w 11435265"/>
              <a:gd name="connsiteY13" fmla="*/ 0 h 6858000"/>
              <a:gd name="connsiteX14" fmla="*/ 9846125 w 11435265"/>
              <a:gd name="connsiteY14" fmla="*/ 16892 h 6858000"/>
              <a:gd name="connsiteX15" fmla="*/ 11435265 w 11435265"/>
              <a:gd name="connsiteY15" fmla="*/ 4079318 h 6858000"/>
              <a:gd name="connsiteX16" fmla="*/ 10261404 w 11435265"/>
              <a:gd name="connsiteY16"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35265" h="6858000">
                <a:moveTo>
                  <a:pt x="9925983" y="6858000"/>
                </a:moveTo>
                <a:lnTo>
                  <a:pt x="0" y="6858000"/>
                </a:lnTo>
                <a:lnTo>
                  <a:pt x="0" y="0"/>
                </a:lnTo>
                <a:lnTo>
                  <a:pt x="996904" y="0"/>
                </a:lnTo>
                <a:lnTo>
                  <a:pt x="2426875" y="0"/>
                </a:lnTo>
                <a:lnTo>
                  <a:pt x="4014127" y="0"/>
                </a:lnTo>
                <a:lnTo>
                  <a:pt x="4359595" y="0"/>
                </a:lnTo>
                <a:lnTo>
                  <a:pt x="4647960" y="0"/>
                </a:lnTo>
                <a:lnTo>
                  <a:pt x="4691093" y="0"/>
                </a:lnTo>
                <a:lnTo>
                  <a:pt x="5558544" y="0"/>
                </a:lnTo>
                <a:lnTo>
                  <a:pt x="5570664" y="0"/>
                </a:lnTo>
                <a:lnTo>
                  <a:pt x="5695183" y="0"/>
                </a:lnTo>
                <a:lnTo>
                  <a:pt x="7177357" y="0"/>
                </a:lnTo>
                <a:lnTo>
                  <a:pt x="9824163" y="0"/>
                </a:lnTo>
                <a:lnTo>
                  <a:pt x="9846125" y="16892"/>
                </a:lnTo>
                <a:cubicBezTo>
                  <a:pt x="10865743" y="850004"/>
                  <a:pt x="11435265" y="2357705"/>
                  <a:pt x="11435265" y="4079318"/>
                </a:cubicBezTo>
                <a:cubicBezTo>
                  <a:pt x="11435265" y="5217633"/>
                  <a:pt x="10916694" y="5903717"/>
                  <a:pt x="10261404" y="654244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71BA53A4-C4B7-4189-9FC1-6350B1AB5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341199" y="0"/>
            <a:ext cx="1518348" cy="6858000"/>
          </a:xfrm>
          <a:custGeom>
            <a:avLst/>
            <a:gdLst>
              <a:gd name="connsiteX0" fmla="*/ 19178 w 1518348"/>
              <a:gd name="connsiteY0" fmla="*/ 6858000 h 6858000"/>
              <a:gd name="connsiteX1" fmla="*/ 0 w 1518348"/>
              <a:gd name="connsiteY1" fmla="*/ 6858000 h 6858000"/>
              <a:gd name="connsiteX2" fmla="*/ 241394 w 1518348"/>
              <a:gd name="connsiteY2" fmla="*/ 6638611 h 6858000"/>
              <a:gd name="connsiteX3" fmla="*/ 1493356 w 1518348"/>
              <a:gd name="connsiteY3" fmla="*/ 4142424 h 6858000"/>
              <a:gd name="connsiteX4" fmla="*/ 282053 w 1518348"/>
              <a:gd name="connsiteY4" fmla="*/ 26474 h 6858000"/>
              <a:gd name="connsiteX5" fmla="*/ 256233 w 1518348"/>
              <a:gd name="connsiteY5" fmla="*/ 0 h 6858000"/>
              <a:gd name="connsiteX6" fmla="*/ 273463 w 1518348"/>
              <a:gd name="connsiteY6" fmla="*/ 0 h 6858000"/>
              <a:gd name="connsiteX7" fmla="*/ 300199 w 1518348"/>
              <a:gd name="connsiteY7" fmla="*/ 27414 h 6858000"/>
              <a:gd name="connsiteX8" fmla="*/ 1511501 w 1518348"/>
              <a:gd name="connsiteY8" fmla="*/ 4143362 h 6858000"/>
              <a:gd name="connsiteX9" fmla="*/ 259539 w 1518348"/>
              <a:gd name="connsiteY9" fmla="*/ 663954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8348" h="6858000">
                <a:moveTo>
                  <a:pt x="19178" y="6858000"/>
                </a:moveTo>
                <a:lnTo>
                  <a:pt x="0" y="6858000"/>
                </a:lnTo>
                <a:lnTo>
                  <a:pt x="241394" y="6638611"/>
                </a:lnTo>
                <a:cubicBezTo>
                  <a:pt x="909582" y="6009084"/>
                  <a:pt x="1445892" y="5323498"/>
                  <a:pt x="1493356" y="4142424"/>
                </a:cubicBezTo>
                <a:cubicBezTo>
                  <a:pt x="1560655" y="2467784"/>
                  <a:pt x="1130049" y="962858"/>
                  <a:pt x="282053" y="26474"/>
                </a:cubicBezTo>
                <a:lnTo>
                  <a:pt x="256233" y="0"/>
                </a:lnTo>
                <a:lnTo>
                  <a:pt x="273463" y="0"/>
                </a:lnTo>
                <a:lnTo>
                  <a:pt x="300199" y="27414"/>
                </a:lnTo>
                <a:cubicBezTo>
                  <a:pt x="1148195" y="963796"/>
                  <a:pt x="1578800" y="2468723"/>
                  <a:pt x="1511501" y="4143362"/>
                </a:cubicBezTo>
                <a:cubicBezTo>
                  <a:pt x="1464037" y="5324436"/>
                  <a:pt x="927728" y="6010023"/>
                  <a:pt x="259539" y="6639549"/>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5558AD6E-B070-4640-AA07-87E208983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552928" y="0"/>
            <a:ext cx="1644534" cy="6858000"/>
          </a:xfrm>
          <a:custGeom>
            <a:avLst/>
            <a:gdLst>
              <a:gd name="connsiteX0" fmla="*/ 135252 w 1644534"/>
              <a:gd name="connsiteY0" fmla="*/ 6858000 h 6858000"/>
              <a:gd name="connsiteX1" fmla="*/ 101819 w 1644534"/>
              <a:gd name="connsiteY1" fmla="*/ 6858000 h 6858000"/>
              <a:gd name="connsiteX2" fmla="*/ 437240 w 1644534"/>
              <a:gd name="connsiteY2" fmla="*/ 6542447 h 6858000"/>
              <a:gd name="connsiteX3" fmla="*/ 1611101 w 1644534"/>
              <a:gd name="connsiteY3" fmla="*/ 4079318 h 6858000"/>
              <a:gd name="connsiteX4" fmla="*/ 21961 w 1644534"/>
              <a:gd name="connsiteY4" fmla="*/ 16892 h 6858000"/>
              <a:gd name="connsiteX5" fmla="*/ 0 w 1644534"/>
              <a:gd name="connsiteY5" fmla="*/ 0 h 6858000"/>
              <a:gd name="connsiteX6" fmla="*/ 33433 w 1644534"/>
              <a:gd name="connsiteY6" fmla="*/ 0 h 6858000"/>
              <a:gd name="connsiteX7" fmla="*/ 55394 w 1644534"/>
              <a:gd name="connsiteY7" fmla="*/ 16892 h 6858000"/>
              <a:gd name="connsiteX8" fmla="*/ 1644534 w 1644534"/>
              <a:gd name="connsiteY8" fmla="*/ 4079318 h 6858000"/>
              <a:gd name="connsiteX9" fmla="*/ 470673 w 1644534"/>
              <a:gd name="connsiteY9"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4534" h="6858000">
                <a:moveTo>
                  <a:pt x="135252" y="6858000"/>
                </a:moveTo>
                <a:lnTo>
                  <a:pt x="101819" y="6858000"/>
                </a:lnTo>
                <a:lnTo>
                  <a:pt x="437240" y="6542447"/>
                </a:lnTo>
                <a:cubicBezTo>
                  <a:pt x="1092531" y="5903717"/>
                  <a:pt x="1611101" y="5217633"/>
                  <a:pt x="1611101" y="4079318"/>
                </a:cubicBezTo>
                <a:cubicBezTo>
                  <a:pt x="1611101" y="2357705"/>
                  <a:pt x="1041580" y="850004"/>
                  <a:pt x="21961" y="16892"/>
                </a:cubicBezTo>
                <a:lnTo>
                  <a:pt x="0" y="0"/>
                </a:lnTo>
                <a:lnTo>
                  <a:pt x="33433" y="0"/>
                </a:lnTo>
                <a:lnTo>
                  <a:pt x="55394" y="16892"/>
                </a:lnTo>
                <a:cubicBezTo>
                  <a:pt x="1075012" y="850004"/>
                  <a:pt x="1644534" y="2357705"/>
                  <a:pt x="1644534" y="4079318"/>
                </a:cubicBezTo>
                <a:cubicBezTo>
                  <a:pt x="1644534" y="5217633"/>
                  <a:pt x="1125963" y="5903717"/>
                  <a:pt x="470673" y="654244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36ACFB69-D148-449E-AC5A-C55AA20A7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88858" y="0"/>
            <a:ext cx="1461546" cy="6858000"/>
          </a:xfrm>
          <a:custGeom>
            <a:avLst/>
            <a:gdLst>
              <a:gd name="connsiteX0" fmla="*/ 107940 w 1461546"/>
              <a:gd name="connsiteY0" fmla="*/ 6858000 h 6858000"/>
              <a:gd name="connsiteX1" fmla="*/ 91317 w 1461546"/>
              <a:gd name="connsiteY1" fmla="*/ 6858000 h 6858000"/>
              <a:gd name="connsiteX2" fmla="*/ 392141 w 1461546"/>
              <a:gd name="connsiteY2" fmla="*/ 6542447 h 6858000"/>
              <a:gd name="connsiteX3" fmla="*/ 1444924 w 1461546"/>
              <a:gd name="connsiteY3" fmla="*/ 4079318 h 6858000"/>
              <a:gd name="connsiteX4" fmla="*/ 19696 w 1461546"/>
              <a:gd name="connsiteY4" fmla="*/ 16892 h 6858000"/>
              <a:gd name="connsiteX5" fmla="*/ 0 w 1461546"/>
              <a:gd name="connsiteY5" fmla="*/ 0 h 6858000"/>
              <a:gd name="connsiteX6" fmla="*/ 16622 w 1461546"/>
              <a:gd name="connsiteY6" fmla="*/ 0 h 6858000"/>
              <a:gd name="connsiteX7" fmla="*/ 36319 w 1461546"/>
              <a:gd name="connsiteY7" fmla="*/ 16892 h 6858000"/>
              <a:gd name="connsiteX8" fmla="*/ 1461546 w 1461546"/>
              <a:gd name="connsiteY8" fmla="*/ 4079318 h 6858000"/>
              <a:gd name="connsiteX9" fmla="*/ 408763 w 1461546"/>
              <a:gd name="connsiteY9"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1546" h="6858000">
                <a:moveTo>
                  <a:pt x="107940" y="6858000"/>
                </a:moveTo>
                <a:lnTo>
                  <a:pt x="91317" y="6858000"/>
                </a:lnTo>
                <a:lnTo>
                  <a:pt x="392141" y="6542447"/>
                </a:lnTo>
                <a:cubicBezTo>
                  <a:pt x="979841" y="5903717"/>
                  <a:pt x="1444924" y="5217633"/>
                  <a:pt x="1444924" y="4079318"/>
                </a:cubicBezTo>
                <a:cubicBezTo>
                  <a:pt x="1444924" y="2357705"/>
                  <a:pt x="934146" y="850004"/>
                  <a:pt x="19696" y="16892"/>
                </a:cubicBezTo>
                <a:lnTo>
                  <a:pt x="0" y="0"/>
                </a:lnTo>
                <a:lnTo>
                  <a:pt x="16622" y="0"/>
                </a:lnTo>
                <a:lnTo>
                  <a:pt x="36319" y="16892"/>
                </a:lnTo>
                <a:cubicBezTo>
                  <a:pt x="950768" y="850004"/>
                  <a:pt x="1461546" y="2357705"/>
                  <a:pt x="1461546" y="4079318"/>
                </a:cubicBezTo>
                <a:cubicBezTo>
                  <a:pt x="1461546" y="5217633"/>
                  <a:pt x="996464" y="5903717"/>
                  <a:pt x="408763" y="654244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B1F5F7F1-171A-87AC-2AFC-428430D92B7A}"/>
              </a:ext>
            </a:extLst>
          </p:cNvPr>
          <p:cNvSpPr>
            <a:spLocks noGrp="1"/>
          </p:cNvSpPr>
          <p:nvPr>
            <p:ph type="title"/>
          </p:nvPr>
        </p:nvSpPr>
        <p:spPr>
          <a:xfrm>
            <a:off x="2377440" y="442220"/>
            <a:ext cx="8397987" cy="1345269"/>
          </a:xfrm>
        </p:spPr>
        <p:txBody>
          <a:bodyPr anchor="b">
            <a:normAutofit/>
          </a:bodyPr>
          <a:lstStyle/>
          <a:p>
            <a:r>
              <a:rPr lang="en-US" b="1"/>
              <a:t>About Data</a:t>
            </a:r>
            <a:endParaRPr lang="en-US" dirty="0"/>
          </a:p>
        </p:txBody>
      </p:sp>
      <p:graphicFrame>
        <p:nvGraphicFramePr>
          <p:cNvPr id="4" name="Content Placeholder 2">
            <a:extLst>
              <a:ext uri="{FF2B5EF4-FFF2-40B4-BE49-F238E27FC236}">
                <a16:creationId xmlns:a16="http://schemas.microsoft.com/office/drawing/2014/main" id="{BF4C7532-4035-952A-FDB9-B864D0A4B248}"/>
              </a:ext>
            </a:extLst>
          </p:cNvPr>
          <p:cNvGraphicFramePr>
            <a:graphicFrameLocks noGrp="1"/>
          </p:cNvGraphicFramePr>
          <p:nvPr>
            <p:ph idx="1"/>
            <p:extLst>
              <p:ext uri="{D42A27DB-BD31-4B8C-83A1-F6EECF244321}">
                <p14:modId xmlns:p14="http://schemas.microsoft.com/office/powerpoint/2010/main" val="1444629046"/>
              </p:ext>
            </p:extLst>
          </p:nvPr>
        </p:nvGraphicFramePr>
        <p:xfrm>
          <a:off x="2377439" y="2312988"/>
          <a:ext cx="8312785" cy="34115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8347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7908A-2587-FCF1-32DB-188F65A923D8}"/>
              </a:ext>
            </a:extLst>
          </p:cNvPr>
          <p:cNvSpPr>
            <a:spLocks noGrp="1"/>
          </p:cNvSpPr>
          <p:nvPr>
            <p:ph type="title"/>
          </p:nvPr>
        </p:nvSpPr>
        <p:spPr/>
        <p:txBody>
          <a:bodyPr/>
          <a:lstStyle/>
          <a:p>
            <a:r>
              <a:rPr lang="en-US" dirty="0"/>
              <a:t>About Data:</a:t>
            </a:r>
          </a:p>
        </p:txBody>
      </p:sp>
      <p:sp>
        <p:nvSpPr>
          <p:cNvPr id="3" name="Content Placeholder 2">
            <a:extLst>
              <a:ext uri="{FF2B5EF4-FFF2-40B4-BE49-F238E27FC236}">
                <a16:creationId xmlns:a16="http://schemas.microsoft.com/office/drawing/2014/main" id="{71454211-AE35-4311-2D60-35CCC5EBA8B0}"/>
              </a:ext>
            </a:extLst>
          </p:cNvPr>
          <p:cNvSpPr>
            <a:spLocks noGrp="1"/>
          </p:cNvSpPr>
          <p:nvPr>
            <p:ph idx="1"/>
          </p:nvPr>
        </p:nvSpPr>
        <p:spPr/>
        <p:txBody>
          <a:bodyPr/>
          <a:lstStyle/>
          <a:p>
            <a:r>
              <a:rPr lang="en-US" sz="1800" b="1" kern="100">
                <a:solidFill>
                  <a:srgbClr val="3C4043"/>
                </a:solidFill>
                <a:effectLst/>
                <a:latin typeface="Times New Roman" panose="02020603050405020304" pitchFamily="18" charset="0"/>
                <a:ea typeface="Calibri" panose="020F0502020204030204" pitchFamily="34" charset="0"/>
                <a:cs typeface="Times New Roman" panose="02020603050405020304" pitchFamily="18" charset="0"/>
              </a:rPr>
              <a:t>The dataset has 32 entities or data points. Those are listed below:</a:t>
            </a:r>
          </a:p>
          <a:p>
            <a:endParaRPr lang="en-US" dirty="0"/>
          </a:p>
        </p:txBody>
      </p:sp>
      <p:pic>
        <p:nvPicPr>
          <p:cNvPr id="4" name="Picture 3">
            <a:extLst>
              <a:ext uri="{FF2B5EF4-FFF2-40B4-BE49-F238E27FC236}">
                <a16:creationId xmlns:a16="http://schemas.microsoft.com/office/drawing/2014/main" id="{59767D41-FF41-F0DB-12CA-31170B9EB15A}"/>
              </a:ext>
            </a:extLst>
          </p:cNvPr>
          <p:cNvPicPr>
            <a:picLocks noChangeAspect="1"/>
          </p:cNvPicPr>
          <p:nvPr/>
        </p:nvPicPr>
        <p:blipFill>
          <a:blip r:embed="rId2"/>
          <a:stretch>
            <a:fillRect/>
          </a:stretch>
        </p:blipFill>
        <p:spPr>
          <a:xfrm>
            <a:off x="2005781" y="2831690"/>
            <a:ext cx="8337754" cy="1854610"/>
          </a:xfrm>
          <a:prstGeom prst="rect">
            <a:avLst/>
          </a:prstGeom>
        </p:spPr>
      </p:pic>
    </p:spTree>
    <p:extLst>
      <p:ext uri="{BB962C8B-B14F-4D97-AF65-F5344CB8AC3E}">
        <p14:creationId xmlns:p14="http://schemas.microsoft.com/office/powerpoint/2010/main" val="1443211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18" name="Picture 17" descr="Close-up of a calculator keypad">
            <a:extLst>
              <a:ext uri="{FF2B5EF4-FFF2-40B4-BE49-F238E27FC236}">
                <a16:creationId xmlns:a16="http://schemas.microsoft.com/office/drawing/2014/main" id="{39C29B2A-F1BD-1FEF-9A34-CD76E0CE5394}"/>
              </a:ext>
            </a:extLst>
          </p:cNvPr>
          <p:cNvPicPr>
            <a:picLocks noChangeAspect="1"/>
          </p:cNvPicPr>
          <p:nvPr/>
        </p:nvPicPr>
        <p:blipFill>
          <a:blip r:embed="rId2"/>
          <a:srcRect l="10725" r="16814" b="-1"/>
          <a:stretch/>
        </p:blipFill>
        <p:spPr>
          <a:xfrm>
            <a:off x="4691118" y="1"/>
            <a:ext cx="7500882" cy="6857999"/>
          </a:xfrm>
          <a:custGeom>
            <a:avLst/>
            <a:gdLst/>
            <a:ahLst/>
            <a:cxnLst/>
            <a:rect l="l" t="t" r="r" b="b"/>
            <a:pathLst>
              <a:path w="7500882" h="6857999">
                <a:moveTo>
                  <a:pt x="898230" y="0"/>
                </a:moveTo>
                <a:lnTo>
                  <a:pt x="7500882" y="0"/>
                </a:lnTo>
                <a:lnTo>
                  <a:pt x="7500882" y="6857999"/>
                </a:lnTo>
                <a:lnTo>
                  <a:pt x="0" y="6857999"/>
                </a:lnTo>
                <a:lnTo>
                  <a:pt x="114106" y="6780598"/>
                </a:lnTo>
                <a:cubicBezTo>
                  <a:pt x="291579" y="6653107"/>
                  <a:pt x="465794" y="6515396"/>
                  <a:pt x="641619" y="6374813"/>
                </a:cubicBezTo>
                <a:cubicBezTo>
                  <a:pt x="1607125" y="5602838"/>
                  <a:pt x="2555378" y="4969130"/>
                  <a:pt x="2555378" y="3621655"/>
                </a:cubicBezTo>
                <a:cubicBezTo>
                  <a:pt x="2555378" y="2093191"/>
                  <a:pt x="1969579" y="754640"/>
                  <a:pt x="920818" y="14996"/>
                </a:cubicBezTo>
                <a:close/>
              </a:path>
            </a:pathLst>
          </a:custGeom>
        </p:spPr>
      </p:pic>
      <p:sp>
        <p:nvSpPr>
          <p:cNvPr id="28" name="Freeform: Shape 27">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useBgFill="1">
        <p:nvSpPr>
          <p:cNvPr id="30" name="Freeform: Shape 29">
            <a:extLst>
              <a:ext uri="{FF2B5EF4-FFF2-40B4-BE49-F238E27FC236}">
                <a16:creationId xmlns:a16="http://schemas.microsoft.com/office/drawing/2014/main" id="{0BA56A81-C9DD-4EBA-9E13-32FFB51CF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7307402" cy="6858000"/>
          </a:xfrm>
          <a:custGeom>
            <a:avLst/>
            <a:gdLst>
              <a:gd name="connsiteX0" fmla="*/ 0 w 7097265"/>
              <a:gd name="connsiteY0" fmla="*/ 0 h 6858000"/>
              <a:gd name="connsiteX1" fmla="*/ 5474242 w 7097265"/>
              <a:gd name="connsiteY1" fmla="*/ 0 h 6858000"/>
              <a:gd name="connsiteX2" fmla="*/ 5496366 w 7097265"/>
              <a:gd name="connsiteY2" fmla="*/ 14997 h 6858000"/>
              <a:gd name="connsiteX3" fmla="*/ 7097265 w 7097265"/>
              <a:gd name="connsiteY3" fmla="*/ 3621656 h 6858000"/>
              <a:gd name="connsiteX4" fmla="*/ 5222916 w 7097265"/>
              <a:gd name="connsiteY4" fmla="*/ 6374814 h 6858000"/>
              <a:gd name="connsiteX5" fmla="*/ 4706267 w 7097265"/>
              <a:gd name="connsiteY5" fmla="*/ 6780599 h 6858000"/>
              <a:gd name="connsiteX6" fmla="*/ 4594511 w 7097265"/>
              <a:gd name="connsiteY6" fmla="*/ 6858000 h 6858000"/>
              <a:gd name="connsiteX7" fmla="*/ 0 w 7097265"/>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97265" h="6858000">
                <a:moveTo>
                  <a:pt x="0" y="0"/>
                </a:moveTo>
                <a:lnTo>
                  <a:pt x="5474242" y="0"/>
                </a:lnTo>
                <a:lnTo>
                  <a:pt x="5496366" y="14997"/>
                </a:lnTo>
                <a:cubicBezTo>
                  <a:pt x="6523529" y="754641"/>
                  <a:pt x="7097265" y="2093192"/>
                  <a:pt x="7097265" y="3621656"/>
                </a:cubicBezTo>
                <a:cubicBezTo>
                  <a:pt x="7097265" y="4969131"/>
                  <a:pt x="6168540" y="5602839"/>
                  <a:pt x="5222916" y="6374814"/>
                </a:cubicBezTo>
                <a:cubicBezTo>
                  <a:pt x="5050713" y="6515397"/>
                  <a:pt x="4880085" y="6653108"/>
                  <a:pt x="4706267" y="6780599"/>
                </a:cubicBezTo>
                <a:lnTo>
                  <a:pt x="4594511"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2" name="Freeform: Shape 31">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903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C277B4E8-C5BD-61F6-9854-46134181ABB4}"/>
              </a:ext>
            </a:extLst>
          </p:cNvPr>
          <p:cNvSpPr>
            <a:spLocks noGrp="1"/>
          </p:cNvSpPr>
          <p:nvPr>
            <p:ph type="title"/>
          </p:nvPr>
        </p:nvSpPr>
        <p:spPr>
          <a:xfrm>
            <a:off x="992518" y="442913"/>
            <a:ext cx="4780129" cy="1639888"/>
          </a:xfrm>
        </p:spPr>
        <p:txBody>
          <a:bodyPr anchor="b">
            <a:normAutofit/>
          </a:bodyPr>
          <a:lstStyle/>
          <a:p>
            <a:r>
              <a:rPr lang="en-US"/>
              <a:t>Data Pre-Processing:</a:t>
            </a:r>
            <a:endParaRPr lang="en-US" dirty="0"/>
          </a:p>
        </p:txBody>
      </p:sp>
      <p:sp>
        <p:nvSpPr>
          <p:cNvPr id="3" name="Content Placeholder 2">
            <a:extLst>
              <a:ext uri="{FF2B5EF4-FFF2-40B4-BE49-F238E27FC236}">
                <a16:creationId xmlns:a16="http://schemas.microsoft.com/office/drawing/2014/main" id="{2F1F38AD-3CC4-BFE0-CBD1-5237E6BDC728}"/>
              </a:ext>
            </a:extLst>
          </p:cNvPr>
          <p:cNvSpPr>
            <a:spLocks noGrp="1"/>
          </p:cNvSpPr>
          <p:nvPr>
            <p:ph idx="1"/>
          </p:nvPr>
        </p:nvSpPr>
        <p:spPr>
          <a:xfrm>
            <a:off x="992518" y="2312988"/>
            <a:ext cx="5368525" cy="3651250"/>
          </a:xfrm>
        </p:spPr>
        <p:txBody>
          <a:bodyPr>
            <a:normAutofit/>
          </a:bodyPr>
          <a:lstStyle/>
          <a:p>
            <a:pPr marL="457200"/>
            <a:r>
              <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rPr>
              <a:t>As the first step of pre-processing, I have taken out the null values from my dataset.</a:t>
            </a:r>
            <a:endParaRPr lang="en-US" sz="1700" b="1" dirty="0">
              <a:latin typeface="Times New Roman" panose="02020603050405020304" pitchFamily="18" charset="0"/>
              <a:cs typeface="Times New Roman" panose="02020603050405020304" pitchFamily="18" charset="0"/>
            </a:endParaRPr>
          </a:p>
          <a:p>
            <a:pPr marL="457200" marR="0">
              <a:spcBef>
                <a:spcPts val="0"/>
              </a:spcBef>
              <a:spcAft>
                <a:spcPts val="0"/>
              </a:spcAft>
            </a:pPr>
            <a:r>
              <a:rPr lang="en-US" sz="1700" dirty="0" err="1">
                <a:latin typeface="Times New Roman" panose="02020603050405020304" pitchFamily="18" charset="0"/>
                <a:cs typeface="Times New Roman" panose="02020603050405020304" pitchFamily="18" charset="0"/>
              </a:rPr>
              <a:t>FixNull</a:t>
            </a:r>
            <a:r>
              <a:rPr lang="en-US" sz="1700" dirty="0">
                <a:latin typeface="Times New Roman" panose="02020603050405020304" pitchFamily="18" charset="0"/>
                <a:cs typeface="Times New Roman" panose="02020603050405020304" pitchFamily="18" charset="0"/>
              </a:rPr>
              <a:t> &lt;- function(attribute) { </a:t>
            </a:r>
            <a:r>
              <a:rPr lang="en-US" sz="1700" dirty="0" err="1">
                <a:latin typeface="Times New Roman" panose="02020603050405020304" pitchFamily="18" charset="0"/>
                <a:cs typeface="Times New Roman" panose="02020603050405020304" pitchFamily="18" charset="0"/>
              </a:rPr>
              <a:t>ifelse</a:t>
            </a:r>
            <a:r>
              <a:rPr lang="en-US" sz="1700" dirty="0">
                <a:latin typeface="Times New Roman" panose="02020603050405020304" pitchFamily="18" charset="0"/>
                <a:cs typeface="Times New Roman" panose="02020603050405020304" pitchFamily="18" charset="0"/>
              </a:rPr>
              <a:t>(is.na(attribute), mean(attribute, na.rm = TRUE), attribute) } </a:t>
            </a:r>
            <a:r>
              <a:rPr lang="en-US" sz="1700" dirty="0" err="1">
                <a:latin typeface="Times New Roman" panose="02020603050405020304" pitchFamily="18" charset="0"/>
                <a:cs typeface="Times New Roman" panose="02020603050405020304" pitchFamily="18" charset="0"/>
              </a:rPr>
              <a:t>student_data$famsize</a:t>
            </a:r>
            <a:r>
              <a:rPr lang="en-US" sz="1700" dirty="0">
                <a:latin typeface="Times New Roman" panose="02020603050405020304" pitchFamily="18" charset="0"/>
                <a:cs typeface="Times New Roman" panose="02020603050405020304" pitchFamily="18" charset="0"/>
              </a:rPr>
              <a:t> &lt;- </a:t>
            </a:r>
            <a:r>
              <a:rPr lang="en-US" sz="1700" dirty="0" err="1">
                <a:latin typeface="Times New Roman" panose="02020603050405020304" pitchFamily="18" charset="0"/>
                <a:cs typeface="Times New Roman" panose="02020603050405020304" pitchFamily="18" charset="0"/>
              </a:rPr>
              <a:t>FixNull</a:t>
            </a:r>
            <a:r>
              <a:rPr lang="en-US" sz="1700" dirty="0">
                <a:latin typeface="Times New Roman" panose="02020603050405020304" pitchFamily="18" charset="0"/>
                <a:cs typeface="Times New Roman" panose="02020603050405020304" pitchFamily="18" charset="0"/>
              </a:rPr>
              <a:t>(</a:t>
            </a:r>
            <a:r>
              <a:rPr lang="en-US" sz="1700" dirty="0" err="1">
                <a:latin typeface="Times New Roman" panose="02020603050405020304" pitchFamily="18" charset="0"/>
                <a:cs typeface="Times New Roman" panose="02020603050405020304" pitchFamily="18" charset="0"/>
              </a:rPr>
              <a:t>student_data$famsize</a:t>
            </a:r>
            <a:r>
              <a:rPr lang="en-US" sz="1700" dirty="0">
                <a:latin typeface="Times New Roman" panose="02020603050405020304" pitchFamily="18" charset="0"/>
                <a:cs typeface="Times New Roman" panose="02020603050405020304" pitchFamily="18" charset="0"/>
              </a:rPr>
              <a:t>) </a:t>
            </a:r>
            <a:r>
              <a:rPr lang="en-US" sz="1700" dirty="0" err="1">
                <a:latin typeface="Times New Roman" panose="02020603050405020304" pitchFamily="18" charset="0"/>
                <a:cs typeface="Times New Roman" panose="02020603050405020304" pitchFamily="18" charset="0"/>
              </a:rPr>
              <a:t>student_data$Medu</a:t>
            </a:r>
            <a:r>
              <a:rPr lang="en-US" sz="1700" dirty="0">
                <a:latin typeface="Times New Roman" panose="02020603050405020304" pitchFamily="18" charset="0"/>
                <a:cs typeface="Times New Roman" panose="02020603050405020304" pitchFamily="18" charset="0"/>
              </a:rPr>
              <a:t> &lt;- </a:t>
            </a:r>
            <a:r>
              <a:rPr lang="en-US" sz="1700" dirty="0" err="1">
                <a:latin typeface="Times New Roman" panose="02020603050405020304" pitchFamily="18" charset="0"/>
                <a:cs typeface="Times New Roman" panose="02020603050405020304" pitchFamily="18" charset="0"/>
              </a:rPr>
              <a:t>FixNull</a:t>
            </a:r>
            <a:r>
              <a:rPr lang="en-US" sz="1700" dirty="0">
                <a:latin typeface="Times New Roman" panose="02020603050405020304" pitchFamily="18" charset="0"/>
                <a:cs typeface="Times New Roman" panose="02020603050405020304" pitchFamily="18" charset="0"/>
              </a:rPr>
              <a:t>(</a:t>
            </a:r>
            <a:r>
              <a:rPr lang="en-US" sz="1700" dirty="0" err="1">
                <a:latin typeface="Times New Roman" panose="02020603050405020304" pitchFamily="18" charset="0"/>
                <a:cs typeface="Times New Roman" panose="02020603050405020304" pitchFamily="18" charset="0"/>
              </a:rPr>
              <a:t>student_data$Medu</a:t>
            </a:r>
            <a:r>
              <a:rPr lang="en-US" sz="1700" dirty="0">
                <a:latin typeface="Times New Roman" panose="02020603050405020304" pitchFamily="18" charset="0"/>
                <a:cs typeface="Times New Roman" panose="02020603050405020304" pitchFamily="18" charset="0"/>
              </a:rPr>
              <a:t>)</a:t>
            </a:r>
            <a:r>
              <a:rPr lang="en-US" sz="1700" b="1" kern="100" dirty="0">
                <a:effectLst/>
                <a:latin typeface="Times New Roman" panose="02020603050405020304" pitchFamily="18" charset="0"/>
                <a:ea typeface="Calibri" panose="020F0502020204030204" pitchFamily="34" charset="0"/>
                <a:cs typeface="Times New Roman" panose="02020603050405020304" pitchFamily="18" charset="0"/>
              </a:rPr>
              <a:t> </a:t>
            </a:r>
          </a:p>
          <a:p>
            <a:endParaRPr lang="en-US" sz="1700" dirty="0"/>
          </a:p>
        </p:txBody>
      </p:sp>
    </p:spTree>
    <p:extLst>
      <p:ext uri="{BB962C8B-B14F-4D97-AF65-F5344CB8AC3E}">
        <p14:creationId xmlns:p14="http://schemas.microsoft.com/office/powerpoint/2010/main" val="1900701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D72E8-EC09-3E60-720C-10BAEA1F0716}"/>
              </a:ext>
            </a:extLst>
          </p:cNvPr>
          <p:cNvSpPr>
            <a:spLocks noGrp="1"/>
          </p:cNvSpPr>
          <p:nvPr>
            <p:ph type="title"/>
          </p:nvPr>
        </p:nvSpPr>
        <p:spPr/>
        <p:txBody>
          <a:bodyPr/>
          <a:lstStyle/>
          <a:p>
            <a:r>
              <a:rPr lang="en-US" dirty="0"/>
              <a:t>Data Visualization</a:t>
            </a:r>
          </a:p>
        </p:txBody>
      </p:sp>
      <p:sp>
        <p:nvSpPr>
          <p:cNvPr id="6" name="Content Placeholder 5">
            <a:extLst>
              <a:ext uri="{FF2B5EF4-FFF2-40B4-BE49-F238E27FC236}">
                <a16:creationId xmlns:a16="http://schemas.microsoft.com/office/drawing/2014/main" id="{9788BB92-A835-9044-5776-9041C090089F}"/>
              </a:ext>
            </a:extLst>
          </p:cNvPr>
          <p:cNvSpPr>
            <a:spLocks noGrp="1"/>
          </p:cNvSpPr>
          <p:nvPr>
            <p:ph sz="half" idx="1"/>
          </p:nvPr>
        </p:nvSpPr>
        <p:spPr/>
        <p:txBody>
          <a:bodyPr>
            <a:normAutofit fontScale="85000" lnSpcReduction="10000"/>
          </a:bodyPr>
          <a:lstStyle/>
          <a:p>
            <a:pPr marR="0" indent="0">
              <a:spcBef>
                <a:spcPts val="0"/>
              </a:spcBef>
              <a:spcAft>
                <a:spcPts val="6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Box Plot: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Box plot analysis between the study time and failures is given below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Output:</a:t>
            </a:r>
          </a:p>
          <a:p>
            <a:pPr marR="0" indent="0">
              <a:spcBef>
                <a:spcPts val="0"/>
              </a:spcBef>
              <a:spcAft>
                <a:spcPts val="600"/>
              </a:spcAft>
              <a:buNone/>
            </a:pPr>
            <a:r>
              <a:rPr lang="en-US" dirty="0"/>
              <a:t># Box Plot: Study time by number of failures </a:t>
            </a:r>
            <a:r>
              <a:rPr lang="en-US" dirty="0" err="1"/>
              <a:t>ggplot</a:t>
            </a:r>
            <a:r>
              <a:rPr lang="en-US" dirty="0"/>
              <a:t>(</a:t>
            </a:r>
            <a:r>
              <a:rPr lang="en-US" dirty="0" err="1"/>
              <a:t>student_data</a:t>
            </a:r>
            <a:r>
              <a:rPr lang="en-US" dirty="0"/>
              <a:t>, </a:t>
            </a:r>
            <a:r>
              <a:rPr lang="en-US" dirty="0" err="1"/>
              <a:t>aes</a:t>
            </a:r>
            <a:r>
              <a:rPr lang="en-US" dirty="0"/>
              <a:t>(x = factor(failures), y = </a:t>
            </a:r>
            <a:r>
              <a:rPr lang="en-US" dirty="0" err="1"/>
              <a:t>studytime</a:t>
            </a:r>
            <a:r>
              <a:rPr lang="en-US" dirty="0"/>
              <a:t>)) + </a:t>
            </a:r>
            <a:r>
              <a:rPr lang="en-US" dirty="0" err="1"/>
              <a:t>geom_boxplot</a:t>
            </a:r>
            <a:r>
              <a:rPr lang="en-US" dirty="0"/>
              <a:t>() + labs(title = "Box Plot of Study Time by Number of Failures", x = "Number of Failures", y = "Study Time")</a:t>
            </a:r>
            <a:endParaRPr lang="en-US" sz="1800" kern="100" dirty="0">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pic>
        <p:nvPicPr>
          <p:cNvPr id="8" name="Content Placeholder 7" descr="A screenshot of a computer screen&#10;&#10;Description automatically generated">
            <a:extLst>
              <a:ext uri="{FF2B5EF4-FFF2-40B4-BE49-F238E27FC236}">
                <a16:creationId xmlns:a16="http://schemas.microsoft.com/office/drawing/2014/main" id="{DD54F334-7412-97AC-9922-4B6D6C991A58}"/>
              </a:ext>
            </a:extLst>
          </p:cNvPr>
          <p:cNvPicPr>
            <a:picLocks noGrp="1" noChangeAspect="1"/>
          </p:cNvPicPr>
          <p:nvPr>
            <p:ph sz="half" idx="2"/>
          </p:nvPr>
        </p:nvPicPr>
        <p:blipFill>
          <a:blip r:embed="rId2"/>
          <a:stretch>
            <a:fillRect/>
          </a:stretch>
        </p:blipFill>
        <p:spPr>
          <a:xfrm>
            <a:off x="6530975" y="2526890"/>
            <a:ext cx="4159250" cy="3795251"/>
          </a:xfrm>
          <a:prstGeom prst="rect">
            <a:avLst/>
          </a:prstGeom>
        </p:spPr>
      </p:pic>
    </p:spTree>
    <p:extLst>
      <p:ext uri="{BB962C8B-B14F-4D97-AF65-F5344CB8AC3E}">
        <p14:creationId xmlns:p14="http://schemas.microsoft.com/office/powerpoint/2010/main" val="780198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C835-E4FF-5BB9-A5B2-721191911C2A}"/>
              </a:ext>
            </a:extLst>
          </p:cNvPr>
          <p:cNvSpPr>
            <a:spLocks noGrp="1"/>
          </p:cNvSpPr>
          <p:nvPr>
            <p:ph type="title"/>
          </p:nvPr>
        </p:nvSpPr>
        <p:spPr/>
        <p:txBody>
          <a:bodyPr/>
          <a:lstStyle/>
          <a:p>
            <a:r>
              <a:rPr lang="en-US" sz="3200" dirty="0"/>
              <a:t>Data Visualization:</a:t>
            </a:r>
            <a:endParaRPr lang="en-US" dirty="0"/>
          </a:p>
        </p:txBody>
      </p:sp>
      <p:sp>
        <p:nvSpPr>
          <p:cNvPr id="6" name="Content Placeholder 5">
            <a:extLst>
              <a:ext uri="{FF2B5EF4-FFF2-40B4-BE49-F238E27FC236}">
                <a16:creationId xmlns:a16="http://schemas.microsoft.com/office/drawing/2014/main" id="{0DEA1EEB-F6F7-5D7F-6CCC-0AF53F82127A}"/>
              </a:ext>
            </a:extLst>
          </p:cNvPr>
          <p:cNvSpPr>
            <a:spLocks noGrp="1"/>
          </p:cNvSpPr>
          <p:nvPr>
            <p:ph sz="half" idx="1"/>
          </p:nvPr>
        </p:nvSpPr>
        <p:spPr/>
        <p:txBody>
          <a:bodyPr>
            <a:normAutofit lnSpcReduction="10000"/>
          </a:bodyPr>
          <a:lstStyle/>
          <a:p>
            <a:pPr marR="0" indent="0">
              <a:spcBef>
                <a:spcPts val="0"/>
              </a:spcBef>
              <a:spcAft>
                <a:spcPts val="0"/>
              </a:spcAft>
              <a:buNone/>
            </a:pPr>
            <a:r>
              <a:rPr lang="en-US" sz="1600" b="1" kern="100" dirty="0" err="1">
                <a:effectLst/>
                <a:latin typeface="Times New Roman" panose="02020603050405020304" pitchFamily="18" charset="0"/>
                <a:ea typeface="Calibri" panose="020F0502020204030204" pitchFamily="34" charset="0"/>
                <a:cs typeface="Times New Roman" panose="02020603050405020304" pitchFamily="18" charset="0"/>
              </a:rPr>
              <a:t>Histogram:</a:t>
            </a:r>
            <a:r>
              <a:rPr lang="en-US" sz="1600" dirty="0" err="1">
                <a:latin typeface="Times New Roman" panose="02020603050405020304" pitchFamily="18" charset="0"/>
                <a:cs typeface="Times New Roman" panose="02020603050405020304" pitchFamily="18" charset="0"/>
              </a:rPr>
              <a:t>This</a:t>
            </a:r>
            <a:r>
              <a:rPr lang="en-US" sz="1600" dirty="0">
                <a:latin typeface="Times New Roman" panose="02020603050405020304" pitchFamily="18" charset="0"/>
                <a:cs typeface="Times New Roman" panose="02020603050405020304" pitchFamily="18" charset="0"/>
              </a:rPr>
              <a:t> histogram illustrates the distribution of free time among students.</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indent="0">
              <a:spcBef>
                <a:spcPts val="0"/>
              </a:spcBef>
              <a:spcAft>
                <a:spcPts val="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Input</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ggplot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student_data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aes</a:t>
            </a:r>
            <a:r>
              <a:rPr lang="en-US" dirty="0">
                <a:latin typeface="Times New Roman" panose="02020603050405020304" pitchFamily="18" charset="0"/>
                <a:cs typeface="Times New Roman" panose="02020603050405020304" pitchFamily="18" charset="0"/>
              </a:rPr>
              <a:t>(x = </a:t>
            </a:r>
            <a:r>
              <a:rPr lang="en-US" dirty="0" err="1">
                <a:latin typeface="Times New Roman" panose="02020603050405020304" pitchFamily="18" charset="0"/>
                <a:cs typeface="Times New Roman" panose="02020603050405020304" pitchFamily="18" charset="0"/>
              </a:rPr>
              <a:t>freetime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geom_histogram</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binwidth</a:t>
            </a:r>
            <a:r>
              <a:rPr lang="en-US" dirty="0">
                <a:latin typeface="Times New Roman" panose="02020603050405020304" pitchFamily="18" charset="0"/>
                <a:cs typeface="Times New Roman" panose="02020603050405020304" pitchFamily="18" charset="0"/>
              </a:rPr>
              <a:t> = 1, fill = "</a:t>
            </a:r>
            <a:r>
              <a:rPr lang="en-US" dirty="0" err="1">
                <a:latin typeface="Times New Roman" panose="02020603050405020304" pitchFamily="18" charset="0"/>
                <a:cs typeface="Times New Roman" panose="02020603050405020304" pitchFamily="18" charset="0"/>
              </a:rPr>
              <a:t>skyblue</a:t>
            </a:r>
            <a:r>
              <a:rPr lang="en-US" dirty="0">
                <a:latin typeface="Times New Roman" panose="02020603050405020304" pitchFamily="18" charset="0"/>
                <a:cs typeface="Times New Roman" panose="02020603050405020304" pitchFamily="18" charset="0"/>
              </a:rPr>
              <a:t>", color = "black") + labs(title = "Histogram of Free Time", x = "Free Time", y = "Frequency")</a:t>
            </a:r>
          </a:p>
        </p:txBody>
      </p:sp>
      <p:pic>
        <p:nvPicPr>
          <p:cNvPr id="8" name="Content Placeholder 7" descr="A graph on a computer screen&#10;&#10;Description automatically generated">
            <a:extLst>
              <a:ext uri="{FF2B5EF4-FFF2-40B4-BE49-F238E27FC236}">
                <a16:creationId xmlns:a16="http://schemas.microsoft.com/office/drawing/2014/main" id="{DC470A8C-62F4-45B4-C0D2-C8188D64BC13}"/>
              </a:ext>
            </a:extLst>
          </p:cNvPr>
          <p:cNvPicPr>
            <a:picLocks noGrp="1" noChangeAspect="1"/>
          </p:cNvPicPr>
          <p:nvPr>
            <p:ph sz="half" idx="2"/>
          </p:nvPr>
        </p:nvPicPr>
        <p:blipFill>
          <a:blip r:embed="rId2"/>
          <a:stretch>
            <a:fillRect/>
          </a:stretch>
        </p:blipFill>
        <p:spPr>
          <a:xfrm>
            <a:off x="6530974" y="2438399"/>
            <a:ext cx="4441825" cy="3977381"/>
          </a:xfrm>
          <a:prstGeom prst="rect">
            <a:avLst/>
          </a:prstGeom>
        </p:spPr>
      </p:pic>
    </p:spTree>
    <p:extLst>
      <p:ext uri="{BB962C8B-B14F-4D97-AF65-F5344CB8AC3E}">
        <p14:creationId xmlns:p14="http://schemas.microsoft.com/office/powerpoint/2010/main" val="3082391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D6B3-06FF-C537-590A-9668A6E195A8}"/>
              </a:ext>
            </a:extLst>
          </p:cNvPr>
          <p:cNvSpPr>
            <a:spLocks noGrp="1"/>
          </p:cNvSpPr>
          <p:nvPr>
            <p:ph type="title"/>
          </p:nvPr>
        </p:nvSpPr>
        <p:spPr/>
        <p:txBody>
          <a:bodyPr/>
          <a:lstStyle/>
          <a:p>
            <a:r>
              <a:rPr lang="en-US" sz="3200" dirty="0"/>
              <a:t>Data Visualization</a:t>
            </a:r>
            <a:endParaRPr lang="en-US" dirty="0"/>
          </a:p>
        </p:txBody>
      </p:sp>
      <p:sp>
        <p:nvSpPr>
          <p:cNvPr id="3" name="Content Placeholder 2">
            <a:extLst>
              <a:ext uri="{FF2B5EF4-FFF2-40B4-BE49-F238E27FC236}">
                <a16:creationId xmlns:a16="http://schemas.microsoft.com/office/drawing/2014/main" id="{8A4DD375-5566-8A0E-4440-CFF0E87248A8}"/>
              </a:ext>
            </a:extLst>
          </p:cNvPr>
          <p:cNvSpPr>
            <a:spLocks noGrp="1"/>
          </p:cNvSpPr>
          <p:nvPr>
            <p:ph sz="half" idx="1"/>
          </p:nvPr>
        </p:nvSpPr>
        <p:spPr/>
        <p:txBody>
          <a:bodyPr>
            <a:normAutofit fontScale="92500" lnSpcReduction="20000"/>
          </a:bodyPr>
          <a:lstStyle/>
          <a:p>
            <a:r>
              <a:rPr lang="en-US" sz="1800" b="1" dirty="0">
                <a:latin typeface="Times New Roman" panose="02020603050405020304" pitchFamily="18" charset="0"/>
                <a:cs typeface="Times New Roman" panose="02020603050405020304" pitchFamily="18" charset="0"/>
              </a:rPr>
              <a:t>Bar </a:t>
            </a:r>
            <a:r>
              <a:rPr lang="en-US" sz="1800" b="1" dirty="0" err="1">
                <a:latin typeface="Times New Roman" panose="02020603050405020304" pitchFamily="18" charset="0"/>
                <a:cs typeface="Times New Roman" panose="02020603050405020304" pitchFamily="18" charset="0"/>
              </a:rPr>
              <a:t>Plot:</a:t>
            </a:r>
            <a:r>
              <a:rPr lang="en-US" dirty="0" err="1">
                <a:latin typeface="Times New Roman" panose="02020603050405020304" pitchFamily="18" charset="0"/>
                <a:cs typeface="Times New Roman" panose="02020603050405020304" pitchFamily="18" charset="0"/>
              </a:rPr>
              <a:t>This</a:t>
            </a:r>
            <a:r>
              <a:rPr lang="en-US" dirty="0">
                <a:latin typeface="Times New Roman" panose="02020603050405020304" pitchFamily="18" charset="0"/>
                <a:cs typeface="Times New Roman" panose="02020603050405020304" pitchFamily="18" charset="0"/>
              </a:rPr>
              <a:t> bar plot displays the counts of different family sizes in the dataset.</a:t>
            </a:r>
          </a:p>
          <a:p>
            <a:r>
              <a:rPr lang="en-US" sz="1800" b="1" dirty="0">
                <a:latin typeface="Times New Roman" panose="02020603050405020304" pitchFamily="18" charset="0"/>
                <a:cs typeface="Times New Roman" panose="02020603050405020304" pitchFamily="18" charset="0"/>
              </a:rPr>
              <a:t>Input:</a:t>
            </a:r>
          </a:p>
          <a:p>
            <a:r>
              <a:rPr lang="en-US" dirty="0">
                <a:latin typeface="Times New Roman" panose="02020603050405020304" pitchFamily="18" charset="0"/>
                <a:cs typeface="Times New Roman" panose="02020603050405020304" pitchFamily="18" charset="0"/>
              </a:rPr>
              <a:t># Bar Plot: Counts of Family Size </a:t>
            </a:r>
            <a:r>
              <a:rPr lang="en-US" dirty="0" err="1">
                <a:latin typeface="Times New Roman" panose="02020603050405020304" pitchFamily="18" charset="0"/>
                <a:cs typeface="Times New Roman" panose="02020603050405020304" pitchFamily="18" charset="0"/>
              </a:rPr>
              <a:t>ggplot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student_data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aes</a:t>
            </a:r>
            <a:r>
              <a:rPr lang="en-US" dirty="0">
                <a:latin typeface="Times New Roman" panose="02020603050405020304" pitchFamily="18" charset="0"/>
                <a:cs typeface="Times New Roman" panose="02020603050405020304" pitchFamily="18" charset="0"/>
              </a:rPr>
              <a:t>(x = </a:t>
            </a:r>
            <a:r>
              <a:rPr lang="en-US" dirty="0" err="1">
                <a:latin typeface="Times New Roman" panose="02020603050405020304" pitchFamily="18" charset="0"/>
                <a:cs typeface="Times New Roman" panose="02020603050405020304" pitchFamily="18" charset="0"/>
              </a:rPr>
              <a:t>famsize</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geom_bar</a:t>
            </a:r>
            <a:r>
              <a:rPr lang="en-US" dirty="0">
                <a:latin typeface="Times New Roman" panose="02020603050405020304" pitchFamily="18" charset="0"/>
                <a:cs typeface="Times New Roman" panose="02020603050405020304" pitchFamily="18" charset="0"/>
              </a:rPr>
              <a:t>(fill = "coral", color = "black") + labs(title = "Bar Plot of Family Size", x = "Family Size", y = "Count")</a:t>
            </a:r>
            <a:endParaRPr lang="en-US" sz="1800" b="1" dirty="0">
              <a:latin typeface="Times New Roman" panose="02020603050405020304" pitchFamily="18" charset="0"/>
              <a:cs typeface="Times New Roman" panose="02020603050405020304" pitchFamily="18" charset="0"/>
            </a:endParaRPr>
          </a:p>
          <a:p>
            <a:endParaRPr lang="en-US" dirty="0"/>
          </a:p>
        </p:txBody>
      </p:sp>
      <p:pic>
        <p:nvPicPr>
          <p:cNvPr id="5" name="Content Placeholder 4" descr="A screenshot of a graph&#10;&#10;Description automatically generated">
            <a:extLst>
              <a:ext uri="{FF2B5EF4-FFF2-40B4-BE49-F238E27FC236}">
                <a16:creationId xmlns:a16="http://schemas.microsoft.com/office/drawing/2014/main" id="{8E168EC5-0169-48ED-952F-4DC5B68D1CB4}"/>
              </a:ext>
            </a:extLst>
          </p:cNvPr>
          <p:cNvPicPr>
            <a:picLocks noGrp="1" noChangeAspect="1"/>
          </p:cNvPicPr>
          <p:nvPr>
            <p:ph sz="half" idx="2"/>
          </p:nvPr>
        </p:nvPicPr>
        <p:blipFill>
          <a:blip r:embed="rId2"/>
          <a:stretch>
            <a:fillRect/>
          </a:stretch>
        </p:blipFill>
        <p:spPr>
          <a:xfrm>
            <a:off x="6530975" y="2517058"/>
            <a:ext cx="4159250" cy="3657600"/>
          </a:xfrm>
          <a:prstGeom prst="rect">
            <a:avLst/>
          </a:prstGeom>
        </p:spPr>
      </p:pic>
    </p:spTree>
    <p:extLst>
      <p:ext uri="{BB962C8B-B14F-4D97-AF65-F5344CB8AC3E}">
        <p14:creationId xmlns:p14="http://schemas.microsoft.com/office/powerpoint/2010/main" val="1498920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A8E61-9249-466D-3533-23B626F4C54B}"/>
              </a:ext>
            </a:extLst>
          </p:cNvPr>
          <p:cNvSpPr>
            <a:spLocks noGrp="1"/>
          </p:cNvSpPr>
          <p:nvPr>
            <p:ph type="title"/>
          </p:nvPr>
        </p:nvSpPr>
        <p:spPr/>
        <p:txBody>
          <a:bodyPr/>
          <a:lstStyle/>
          <a:p>
            <a:r>
              <a:rPr lang="en-US" dirty="0">
                <a:solidFill>
                  <a:schemeClr val="tx2">
                    <a:lumMod val="90000"/>
                    <a:lumOff val="10000"/>
                  </a:schemeClr>
                </a:solidFill>
              </a:rPr>
              <a:t>Association Analysis:</a:t>
            </a:r>
            <a:endParaRPr lang="en-US" dirty="0"/>
          </a:p>
        </p:txBody>
      </p:sp>
      <p:sp>
        <p:nvSpPr>
          <p:cNvPr id="3" name="Content Placeholder 2">
            <a:extLst>
              <a:ext uri="{FF2B5EF4-FFF2-40B4-BE49-F238E27FC236}">
                <a16:creationId xmlns:a16="http://schemas.microsoft.com/office/drawing/2014/main" id="{A73550B8-2AAC-AE73-08B8-DDDB2CA70A2D}"/>
              </a:ext>
            </a:extLst>
          </p:cNvPr>
          <p:cNvSpPr>
            <a:spLocks noGrp="1"/>
          </p:cNvSpPr>
          <p:nvPr>
            <p:ph sz="half" idx="1"/>
          </p:nvPr>
        </p:nvSpPr>
        <p:spPr/>
        <p:txBody>
          <a:bodyPr>
            <a:normAutofit fontScale="47500" lnSpcReduction="20000"/>
          </a:bodyPr>
          <a:lstStyle/>
          <a:p>
            <a:r>
              <a:rPr lang="en-US" sz="3400" b="1" dirty="0" err="1">
                <a:solidFill>
                  <a:schemeClr val="accent6">
                    <a:lumMod val="75000"/>
                  </a:schemeClr>
                </a:solidFill>
                <a:latin typeface="Times New Roman" panose="02020603050405020304" pitchFamily="18" charset="0"/>
                <a:cs typeface="Times New Roman" panose="02020603050405020304" pitchFamily="18" charset="0"/>
              </a:rPr>
              <a:t>Apriori</a:t>
            </a:r>
            <a:r>
              <a:rPr lang="en-US" sz="3400" b="1" dirty="0">
                <a:solidFill>
                  <a:schemeClr val="accent6">
                    <a:lumMod val="75000"/>
                  </a:schemeClr>
                </a:solidFill>
                <a:latin typeface="Times New Roman" panose="02020603050405020304" pitchFamily="18" charset="0"/>
                <a:cs typeface="Times New Roman" panose="02020603050405020304" pitchFamily="18" charset="0"/>
              </a:rPr>
              <a:t> Algorithm: </a:t>
            </a:r>
            <a:r>
              <a:rPr lang="en-US" sz="3400" dirty="0">
                <a:latin typeface="Times New Roman" panose="02020603050405020304" pitchFamily="18" charset="0"/>
                <a:cs typeface="Times New Roman" panose="02020603050405020304" pitchFamily="18" charset="0"/>
              </a:rPr>
              <a:t>Identified frequent </a:t>
            </a:r>
            <a:r>
              <a:rPr lang="en-US" sz="3400" dirty="0" err="1">
                <a:latin typeface="Times New Roman" panose="02020603050405020304" pitchFamily="18" charset="0"/>
                <a:cs typeface="Times New Roman" panose="02020603050405020304" pitchFamily="18" charset="0"/>
              </a:rPr>
              <a:t>itemsets</a:t>
            </a:r>
            <a:r>
              <a:rPr lang="en-US" sz="3400" dirty="0">
                <a:latin typeface="Times New Roman" panose="02020603050405020304" pitchFamily="18" charset="0"/>
                <a:cs typeface="Times New Roman" panose="02020603050405020304" pitchFamily="18" charset="0"/>
              </a:rPr>
              <a:t> and generated association rules.</a:t>
            </a:r>
          </a:p>
          <a:p>
            <a:r>
              <a:rPr lang="en-US" sz="3400" b="1" dirty="0">
                <a:solidFill>
                  <a:schemeClr val="accent6">
                    <a:lumMod val="75000"/>
                  </a:schemeClr>
                </a:solidFill>
                <a:latin typeface="Times New Roman" panose="02020603050405020304" pitchFamily="18" charset="0"/>
                <a:cs typeface="Times New Roman" panose="02020603050405020304" pitchFamily="18" charset="0"/>
              </a:rPr>
              <a:t>Input:</a:t>
            </a:r>
            <a:r>
              <a:rPr lang="en-US" sz="3400" dirty="0">
                <a:latin typeface="Times New Roman" panose="02020603050405020304" pitchFamily="18" charset="0"/>
                <a:cs typeface="Times New Roman" panose="02020603050405020304" pitchFamily="18" charset="0"/>
              </a:rPr>
              <a:t># Association Analysis using </a:t>
            </a:r>
            <a:r>
              <a:rPr lang="en-US" sz="3400" dirty="0" err="1">
                <a:latin typeface="Times New Roman" panose="02020603050405020304" pitchFamily="18" charset="0"/>
                <a:cs typeface="Times New Roman" panose="02020603050405020304" pitchFamily="18" charset="0"/>
              </a:rPr>
              <a:t>Apriori</a:t>
            </a:r>
            <a:r>
              <a:rPr lang="en-US" sz="3400" dirty="0">
                <a:latin typeface="Times New Roman" panose="02020603050405020304" pitchFamily="18" charset="0"/>
                <a:cs typeface="Times New Roman" panose="02020603050405020304" pitchFamily="18" charset="0"/>
              </a:rPr>
              <a:t> Algorithm itemset &lt;- as(</a:t>
            </a:r>
            <a:r>
              <a:rPr lang="en-US" sz="3400" dirty="0" err="1">
                <a:latin typeface="Times New Roman" panose="02020603050405020304" pitchFamily="18" charset="0"/>
                <a:cs typeface="Times New Roman" panose="02020603050405020304" pitchFamily="18" charset="0"/>
              </a:rPr>
              <a:t>trainingSet</a:t>
            </a:r>
            <a:r>
              <a:rPr lang="en-US" sz="3400" dirty="0">
                <a:latin typeface="Times New Roman" panose="02020603050405020304" pitchFamily="18" charset="0"/>
                <a:cs typeface="Times New Roman" panose="02020603050405020304" pitchFamily="18" charset="0"/>
              </a:rPr>
              <a:t>[, c(3, 14)], "transactions")</a:t>
            </a:r>
          </a:p>
          <a:p>
            <a:r>
              <a:rPr lang="en-US" sz="3400" dirty="0">
                <a:latin typeface="Times New Roman" panose="02020603050405020304" pitchFamily="18" charset="0"/>
                <a:cs typeface="Times New Roman" panose="02020603050405020304" pitchFamily="18" charset="0"/>
              </a:rPr>
              <a:t># Perform </a:t>
            </a:r>
            <a:r>
              <a:rPr lang="en-US" sz="3400" dirty="0" err="1">
                <a:latin typeface="Times New Roman" panose="02020603050405020304" pitchFamily="18" charset="0"/>
                <a:cs typeface="Times New Roman" panose="02020603050405020304" pitchFamily="18" charset="0"/>
              </a:rPr>
              <a:t>Apriori</a:t>
            </a:r>
            <a:r>
              <a:rPr lang="en-US" sz="3400" dirty="0">
                <a:latin typeface="Times New Roman" panose="02020603050405020304" pitchFamily="18" charset="0"/>
                <a:cs typeface="Times New Roman" panose="02020603050405020304" pitchFamily="18" charset="0"/>
              </a:rPr>
              <a:t> analysis rules &lt;- </a:t>
            </a:r>
            <a:r>
              <a:rPr lang="en-US" sz="3400" dirty="0" err="1">
                <a:latin typeface="Times New Roman" panose="02020603050405020304" pitchFamily="18" charset="0"/>
                <a:cs typeface="Times New Roman" panose="02020603050405020304" pitchFamily="18" charset="0"/>
              </a:rPr>
              <a:t>apriori</a:t>
            </a:r>
            <a:r>
              <a:rPr lang="en-US" sz="3400" dirty="0">
                <a:latin typeface="Times New Roman" panose="02020603050405020304" pitchFamily="18" charset="0"/>
                <a:cs typeface="Times New Roman" panose="02020603050405020304" pitchFamily="18" charset="0"/>
              </a:rPr>
              <a:t>(itemset, parameter = list(support = 0.1, confidence = 0.7))</a:t>
            </a:r>
            <a:endParaRPr lang="en-US" sz="3400" b="1" dirty="0">
              <a:solidFill>
                <a:schemeClr val="accent6">
                  <a:lumMod val="75000"/>
                </a:schemeClr>
              </a:solidFill>
              <a:latin typeface="Times New Roman" panose="02020603050405020304" pitchFamily="18" charset="0"/>
              <a:cs typeface="Times New Roman" panose="02020603050405020304" pitchFamily="18" charset="0"/>
            </a:endParaRPr>
          </a:p>
          <a:p>
            <a:endParaRPr lang="en-US" sz="3200" b="1" dirty="0">
              <a:solidFill>
                <a:schemeClr val="accent6">
                  <a:lumMod val="75000"/>
                </a:schemeClr>
              </a:solidFill>
              <a:latin typeface="Times New Roman" panose="02020603050405020304" pitchFamily="18" charset="0"/>
              <a:cs typeface="Times New Roman" panose="02020603050405020304" pitchFamily="18" charset="0"/>
            </a:endParaRPr>
          </a:p>
          <a:p>
            <a:endParaRPr lang="en-US" dirty="0"/>
          </a:p>
        </p:txBody>
      </p:sp>
      <p:sp>
        <p:nvSpPr>
          <p:cNvPr id="4" name="Content Placeholder 3">
            <a:extLst>
              <a:ext uri="{FF2B5EF4-FFF2-40B4-BE49-F238E27FC236}">
                <a16:creationId xmlns:a16="http://schemas.microsoft.com/office/drawing/2014/main" id="{5B73E66E-0530-75DB-3064-A2815FAF74B8}"/>
              </a:ext>
            </a:extLst>
          </p:cNvPr>
          <p:cNvSpPr>
            <a:spLocks noGrp="1"/>
          </p:cNvSpPr>
          <p:nvPr>
            <p:ph sz="half" idx="2"/>
          </p:nvPr>
        </p:nvSpPr>
        <p:spPr/>
        <p:txBody>
          <a:bodyPr>
            <a:normAutofit fontScale="47500" lnSpcReduction="20000"/>
          </a:bodyPr>
          <a:lstStyle/>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err="1">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Apriori</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Parameter specification:</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confidence </a:t>
            </a:r>
            <a:r>
              <a:rPr lang="en-US" sz="1800" kern="0" dirty="0" err="1">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minval</a:t>
            </a: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a:t>
            </a:r>
            <a:r>
              <a:rPr lang="en-US" sz="1800" kern="0" dirty="0" err="1">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smax</a:t>
            </a: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a:t>
            </a:r>
            <a:r>
              <a:rPr lang="en-US" sz="1800" kern="0" dirty="0" err="1">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arem</a:t>
            </a: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aval </a:t>
            </a:r>
            <a:r>
              <a:rPr lang="en-US" sz="1800" kern="0" dirty="0" err="1">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originalSupport</a:t>
            </a: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a:t>
            </a:r>
            <a:r>
              <a:rPr lang="en-US" sz="1800" kern="0" dirty="0" err="1">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maxtime</a:t>
            </a: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support </a:t>
            </a:r>
            <a:r>
              <a:rPr lang="en-US" sz="1800" kern="0" dirty="0" err="1">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minlen</a:t>
            </a: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a:t>
            </a:r>
            <a:r>
              <a:rPr lang="en-US" sz="1800" kern="0" dirty="0" err="1">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maxlen</a:t>
            </a: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target  </a:t>
            </a:r>
            <a:r>
              <a:rPr lang="en-US" sz="1800" kern="0" dirty="0" err="1">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ext</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0.7    0.1    1 none FALSE            TRUE       5     0.1      1     10  rules TRUE</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Algorithmic control:</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filter tree heap </a:t>
            </a:r>
            <a:r>
              <a:rPr lang="en-US" sz="1800" kern="0" dirty="0" err="1">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memopt</a:t>
            </a: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load sort verbose</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0.1 TRUE </a:t>
            </a:r>
            <a:r>
              <a:rPr lang="en-US" sz="1800" kern="0" dirty="0" err="1">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TRUE</a:t>
            </a: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FALSE TRUE    2    TRUE</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Absolute minimum support count: 39 </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 </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set item appearances ...[0 item(s)] done [0.00s].</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set transactions ...[5 item(s), 390 transaction(s)] done [0.00s].</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sorting and recoding items ... [5 item(s)] done [0.00s].</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creating transaction tree ... done [0.00s].</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checking subsets of size 1 2 done [0.00s].</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writing ... [0 rule(s)] done [0.00s].</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marL="0" marR="0" latinLnBrk="1">
              <a:lnSpc>
                <a:spcPct val="115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kern="0" dirty="0">
                <a:solidFill>
                  <a:srgbClr val="000000"/>
                </a:solidFill>
                <a:effectLst/>
                <a:highlight>
                  <a:srgbClr val="FFFFFF"/>
                </a:highlight>
                <a:latin typeface="Lucida Console" panose="020B0609040504020204" pitchFamily="49" charset="0"/>
                <a:ea typeface="Times New Roman" panose="02020603050405020304" pitchFamily="18" charset="0"/>
                <a:cs typeface="Courier New" panose="02070309020205020404" pitchFamily="49" charset="0"/>
              </a:rPr>
              <a:t>creating S4 object  ... done [0.00s]</a:t>
            </a:r>
            <a:endParaRPr lang="en-US"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37303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430127AE-B29E-4FDF-99D2-A2F1E7003F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BC0385E9-02B2-4941-889A-EAD43F5BB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36139" y="0"/>
            <a:ext cx="5455860" cy="6858000"/>
          </a:xfrm>
          <a:custGeom>
            <a:avLst/>
            <a:gdLst>
              <a:gd name="connsiteX0" fmla="*/ 3832837 w 5455860"/>
              <a:gd name="connsiteY0" fmla="*/ 0 h 6858000"/>
              <a:gd name="connsiteX1" fmla="*/ 2739604 w 5455860"/>
              <a:gd name="connsiteY1" fmla="*/ 0 h 6858000"/>
              <a:gd name="connsiteX2" fmla="*/ 1959438 w 5455860"/>
              <a:gd name="connsiteY2" fmla="*/ 0 h 6858000"/>
              <a:gd name="connsiteX3" fmla="*/ 1895061 w 5455860"/>
              <a:gd name="connsiteY3" fmla="*/ 0 h 6858000"/>
              <a:gd name="connsiteX4" fmla="*/ 249909 w 5455860"/>
              <a:gd name="connsiteY4" fmla="*/ 0 h 6858000"/>
              <a:gd name="connsiteX5" fmla="*/ 0 w 5455860"/>
              <a:gd name="connsiteY5" fmla="*/ 0 h 6858000"/>
              <a:gd name="connsiteX6" fmla="*/ 0 w 5455860"/>
              <a:gd name="connsiteY6" fmla="*/ 6858000 h 6858000"/>
              <a:gd name="connsiteX7" fmla="*/ 249909 w 5455860"/>
              <a:gd name="connsiteY7" fmla="*/ 6858000 h 6858000"/>
              <a:gd name="connsiteX8" fmla="*/ 1895061 w 5455860"/>
              <a:gd name="connsiteY8" fmla="*/ 6858000 h 6858000"/>
              <a:gd name="connsiteX9" fmla="*/ 1959438 w 5455860"/>
              <a:gd name="connsiteY9" fmla="*/ 6858000 h 6858000"/>
              <a:gd name="connsiteX10" fmla="*/ 2739604 w 5455860"/>
              <a:gd name="connsiteY10" fmla="*/ 6858000 h 6858000"/>
              <a:gd name="connsiteX11" fmla="*/ 2953106 w 5455860"/>
              <a:gd name="connsiteY11" fmla="*/ 6858000 h 6858000"/>
              <a:gd name="connsiteX12" fmla="*/ 3064862 w 5455860"/>
              <a:gd name="connsiteY12" fmla="*/ 6780599 h 6858000"/>
              <a:gd name="connsiteX13" fmla="*/ 3581510 w 5455860"/>
              <a:gd name="connsiteY13" fmla="*/ 6374814 h 6858000"/>
              <a:gd name="connsiteX14" fmla="*/ 5455860 w 5455860"/>
              <a:gd name="connsiteY14" fmla="*/ 3621656 h 6858000"/>
              <a:gd name="connsiteX15" fmla="*/ 3854961 w 5455860"/>
              <a:gd name="connsiteY15"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55860" h="6858000">
                <a:moveTo>
                  <a:pt x="3832837" y="0"/>
                </a:moveTo>
                <a:lnTo>
                  <a:pt x="2739604" y="0"/>
                </a:lnTo>
                <a:lnTo>
                  <a:pt x="1959438" y="0"/>
                </a:lnTo>
                <a:lnTo>
                  <a:pt x="1895061" y="0"/>
                </a:lnTo>
                <a:lnTo>
                  <a:pt x="249909" y="0"/>
                </a:lnTo>
                <a:lnTo>
                  <a:pt x="0" y="0"/>
                </a:lnTo>
                <a:lnTo>
                  <a:pt x="0" y="6858000"/>
                </a:lnTo>
                <a:lnTo>
                  <a:pt x="249909" y="6858000"/>
                </a:lnTo>
                <a:lnTo>
                  <a:pt x="1895061" y="6858000"/>
                </a:lnTo>
                <a:lnTo>
                  <a:pt x="1959438" y="6858000"/>
                </a:lnTo>
                <a:lnTo>
                  <a:pt x="2739604" y="6858000"/>
                </a:lnTo>
                <a:lnTo>
                  <a:pt x="2953106" y="6858000"/>
                </a:lnTo>
                <a:lnTo>
                  <a:pt x="3064862" y="6780599"/>
                </a:lnTo>
                <a:cubicBezTo>
                  <a:pt x="3238680" y="6653108"/>
                  <a:pt x="3409307" y="6515397"/>
                  <a:pt x="3581510" y="6374814"/>
                </a:cubicBezTo>
                <a:cubicBezTo>
                  <a:pt x="4527135" y="5602839"/>
                  <a:pt x="5455860" y="4969131"/>
                  <a:pt x="5455860" y="3621656"/>
                </a:cubicBezTo>
                <a:cubicBezTo>
                  <a:pt x="5455860" y="2093192"/>
                  <a:pt x="4882124" y="754641"/>
                  <a:pt x="3854961" y="1499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25586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69160"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Title 1">
            <a:extLst>
              <a:ext uri="{FF2B5EF4-FFF2-40B4-BE49-F238E27FC236}">
                <a16:creationId xmlns:a16="http://schemas.microsoft.com/office/drawing/2014/main" id="{1263905A-15AD-0F9F-0920-3D3EE25214EB}"/>
              </a:ext>
            </a:extLst>
          </p:cNvPr>
          <p:cNvSpPr>
            <a:spLocks noGrp="1"/>
          </p:cNvSpPr>
          <p:nvPr>
            <p:ph type="title"/>
          </p:nvPr>
        </p:nvSpPr>
        <p:spPr>
          <a:xfrm>
            <a:off x="7587615" y="1045596"/>
            <a:ext cx="4148511" cy="1944371"/>
          </a:xfrm>
          <a:prstGeom prst="rect">
            <a:avLst/>
          </a:prstGeom>
        </p:spPr>
        <p:txBody>
          <a:bodyPr vert="horz" lIns="109728" tIns="109728" rIns="109728" bIns="91440" rtlCol="0" anchor="b">
            <a:normAutofit/>
          </a:bodyPr>
          <a:lstStyle>
            <a:lvl1pPr algn="l" defTabSz="914400" rtl="0" eaLnBrk="1" latinLnBrk="0" hangingPunct="1">
              <a:lnSpc>
                <a:spcPct val="100000"/>
              </a:lnSpc>
              <a:spcBef>
                <a:spcPct val="0"/>
              </a:spcBef>
              <a:buNone/>
              <a:defRPr sz="4400" b="0" kern="1200">
                <a:solidFill>
                  <a:schemeClr val="tx1"/>
                </a:solidFill>
                <a:latin typeface="+mj-lt"/>
                <a:ea typeface="+mj-ea"/>
                <a:cs typeface="+mj-cs"/>
              </a:defRPr>
            </a:lvl1pPr>
          </a:lstStyle>
          <a:p>
            <a:pPr>
              <a:lnSpc>
                <a:spcPct val="130000"/>
              </a:lnSpc>
            </a:pPr>
            <a:r>
              <a:rPr lang="en-US" sz="3200" b="1">
                <a:solidFill>
                  <a:schemeClr val="tx1">
                    <a:lumMod val="75000"/>
                    <a:lumOff val="25000"/>
                  </a:schemeClr>
                </a:solidFill>
              </a:rPr>
              <a:t>Clustering:</a:t>
            </a:r>
          </a:p>
        </p:txBody>
      </p:sp>
      <p:pic>
        <p:nvPicPr>
          <p:cNvPr id="2" name="Content Placeholder 1" descr="A graph with a line&#10;&#10;Description automatically generated">
            <a:extLst>
              <a:ext uri="{FF2B5EF4-FFF2-40B4-BE49-F238E27FC236}">
                <a16:creationId xmlns:a16="http://schemas.microsoft.com/office/drawing/2014/main" id="{B5A05CF0-0892-5A6E-37C9-70A6371C710B}"/>
              </a:ext>
            </a:extLst>
          </p:cNvPr>
          <p:cNvPicPr>
            <a:picLocks noGrp="1" noChangeAspect="1"/>
          </p:cNvPicPr>
          <p:nvPr>
            <p:ph sz="half" idx="2"/>
          </p:nvPr>
        </p:nvPicPr>
        <p:blipFill>
          <a:blip r:embed="rId2"/>
          <a:stretch>
            <a:fillRect/>
          </a:stretch>
        </p:blipFill>
        <p:spPr>
          <a:xfrm>
            <a:off x="965199" y="1641987"/>
            <a:ext cx="4788670" cy="4060723"/>
          </a:xfrm>
          <a:prstGeom prst="rect">
            <a:avLst/>
          </a:prstGeom>
        </p:spPr>
      </p:pic>
      <p:sp>
        <p:nvSpPr>
          <p:cNvPr id="3" name="Content Placeholder 2">
            <a:extLst>
              <a:ext uri="{FF2B5EF4-FFF2-40B4-BE49-F238E27FC236}">
                <a16:creationId xmlns:a16="http://schemas.microsoft.com/office/drawing/2014/main" id="{D4E494D7-AD1E-142D-291A-0F8A19C7A058}"/>
              </a:ext>
            </a:extLst>
          </p:cNvPr>
          <p:cNvSpPr>
            <a:spLocks noGrp="1"/>
          </p:cNvSpPr>
          <p:nvPr>
            <p:ph sz="half" idx="1"/>
          </p:nvPr>
        </p:nvSpPr>
        <p:spPr>
          <a:xfrm>
            <a:off x="7657106" y="3220279"/>
            <a:ext cx="4023361" cy="2385392"/>
          </a:xfrm>
        </p:spPr>
        <p:txBody>
          <a:bodyPr vert="horz" lIns="109728" tIns="109728" rIns="109728" bIns="91440" rtlCol="0">
            <a:normAutofit lnSpcReduction="10000"/>
          </a:bodyPr>
          <a:lstStyle/>
          <a:p>
            <a:pPr>
              <a:lnSpc>
                <a:spcPct val="130000"/>
              </a:lnSpc>
            </a:pPr>
            <a:r>
              <a:rPr lang="en-US" sz="1500" b="1" dirty="0">
                <a:latin typeface="Times New Roman" panose="02020603050405020304" pitchFamily="18" charset="0"/>
                <a:cs typeface="Times New Roman" panose="02020603050405020304" pitchFamily="18" charset="0"/>
              </a:rPr>
              <a:t>Elbow Method</a:t>
            </a:r>
            <a:r>
              <a:rPr lang="en-US" sz="1500" dirty="0">
                <a:latin typeface="Times New Roman" panose="02020603050405020304" pitchFamily="18" charset="0"/>
                <a:cs typeface="Times New Roman" panose="02020603050405020304" pitchFamily="18" charset="0"/>
              </a:rPr>
              <a:t>:</a:t>
            </a:r>
          </a:p>
          <a:p>
            <a:pPr>
              <a:lnSpc>
                <a:spcPct val="130000"/>
              </a:lnSpc>
              <a:buFont typeface="Corbel" panose="020B0503020204020204" pitchFamily="34" charset="0"/>
              <a:buChar char="•"/>
            </a:pPr>
            <a:r>
              <a:rPr lang="en-US" sz="1500" dirty="0">
                <a:latin typeface="Times New Roman" panose="02020603050405020304" pitchFamily="18" charset="0"/>
                <a:cs typeface="Times New Roman" panose="02020603050405020304" pitchFamily="18" charset="0"/>
              </a:rPr>
              <a:t>The "elbow point" indicates the optimal number of clusters, where adding more clusters doesn't significantly reduce WSS.</a:t>
            </a:r>
          </a:p>
          <a:p>
            <a:pPr>
              <a:lnSpc>
                <a:spcPct val="130000"/>
              </a:lnSpc>
              <a:buFont typeface="Corbel" panose="020B0503020204020204" pitchFamily="34" charset="0"/>
              <a:buChar char="•"/>
            </a:pPr>
            <a:r>
              <a:rPr lang="en-US" sz="1500" dirty="0">
                <a:latin typeface="Times New Roman" panose="02020603050405020304" pitchFamily="18" charset="0"/>
                <a:cs typeface="Times New Roman" panose="02020603050405020304" pitchFamily="18" charset="0"/>
              </a:rPr>
              <a:t>Input: </a:t>
            </a:r>
            <a:r>
              <a:rPr lang="en-US" sz="1500" dirty="0" err="1">
                <a:latin typeface="Times New Roman" panose="02020603050405020304" pitchFamily="18" charset="0"/>
                <a:cs typeface="Times New Roman" panose="02020603050405020304" pitchFamily="18" charset="0"/>
              </a:rPr>
              <a:t>fviz_nbclust</a:t>
            </a:r>
            <a:r>
              <a:rPr lang="en-US" sz="1500" dirty="0">
                <a:latin typeface="Times New Roman" panose="02020603050405020304" pitchFamily="18" charset="0"/>
                <a:cs typeface="Times New Roman" panose="02020603050405020304" pitchFamily="18" charset="0"/>
              </a:rPr>
              <a:t>(</a:t>
            </a:r>
            <a:r>
              <a:rPr lang="en-US" sz="1500" dirty="0" err="1">
                <a:latin typeface="Times New Roman" panose="02020603050405020304" pitchFamily="18" charset="0"/>
                <a:cs typeface="Times New Roman" panose="02020603050405020304" pitchFamily="18" charset="0"/>
              </a:rPr>
              <a:t>clustering_data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kmeans</a:t>
            </a:r>
            <a:r>
              <a:rPr lang="en-US" sz="1500" dirty="0">
                <a:latin typeface="Times New Roman" panose="02020603050405020304" pitchFamily="18" charset="0"/>
                <a:cs typeface="Times New Roman" panose="02020603050405020304" pitchFamily="18" charset="0"/>
              </a:rPr>
              <a:t>, method = "</a:t>
            </a:r>
            <a:r>
              <a:rPr lang="en-US" sz="1500" dirty="0" err="1">
                <a:latin typeface="Times New Roman" panose="02020603050405020304" pitchFamily="18" charset="0"/>
                <a:cs typeface="Times New Roman" panose="02020603050405020304" pitchFamily="18" charset="0"/>
              </a:rPr>
              <a:t>wss</a:t>
            </a:r>
            <a:r>
              <a:rPr lang="en-US" sz="1500" dirty="0">
                <a:latin typeface="Times New Roman" panose="02020603050405020304" pitchFamily="18" charset="0"/>
                <a:cs typeface="Times New Roman" panose="02020603050405020304" pitchFamily="18" charset="0"/>
              </a:rPr>
              <a:t>")</a:t>
            </a:r>
          </a:p>
          <a:p>
            <a:pPr>
              <a:lnSpc>
                <a:spcPct val="130000"/>
              </a:lnSpc>
            </a:pPr>
            <a:endParaRPr lang="en-US" sz="1300" dirty="0"/>
          </a:p>
        </p:txBody>
      </p:sp>
    </p:spTree>
    <p:extLst>
      <p:ext uri="{BB962C8B-B14F-4D97-AF65-F5344CB8AC3E}">
        <p14:creationId xmlns:p14="http://schemas.microsoft.com/office/powerpoint/2010/main" val="3629661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5F9F5-6E00-1464-6693-81AE844CE3E1}"/>
              </a:ext>
            </a:extLst>
          </p:cNvPr>
          <p:cNvSpPr>
            <a:spLocks noGrp="1"/>
          </p:cNvSpPr>
          <p:nvPr>
            <p:ph type="title"/>
          </p:nvPr>
        </p:nvSpPr>
        <p:spPr/>
        <p:txBody>
          <a:bodyPr/>
          <a:lstStyle/>
          <a:p>
            <a:r>
              <a:rPr lang="en-US" dirty="0"/>
              <a:t>K-Mean Clustering</a:t>
            </a:r>
          </a:p>
        </p:txBody>
      </p:sp>
      <p:sp>
        <p:nvSpPr>
          <p:cNvPr id="3" name="Content Placeholder 2">
            <a:extLst>
              <a:ext uri="{FF2B5EF4-FFF2-40B4-BE49-F238E27FC236}">
                <a16:creationId xmlns:a16="http://schemas.microsoft.com/office/drawing/2014/main" id="{3903728F-3E6F-F9DF-8959-B0EF5A9BA14C}"/>
              </a:ext>
            </a:extLst>
          </p:cNvPr>
          <p:cNvSpPr>
            <a:spLocks noGrp="1"/>
          </p:cNvSpPr>
          <p:nvPr>
            <p:ph sz="half" idx="1"/>
          </p:nvPr>
        </p:nvSpPr>
        <p:spPr/>
        <p:txBody>
          <a:bodyPr/>
          <a:lstStyle/>
          <a:p>
            <a:r>
              <a:rPr lang="en-US" dirty="0"/>
              <a:t>Input: # Scatter plot of G1 vs G3 colored by </a:t>
            </a:r>
            <a:r>
              <a:rPr lang="en-US" dirty="0" err="1"/>
              <a:t>clustersggplot</a:t>
            </a:r>
            <a:r>
              <a:rPr lang="en-US" dirty="0"/>
              <a:t>(</a:t>
            </a:r>
            <a:r>
              <a:rPr lang="en-US" dirty="0" err="1"/>
              <a:t>student_data</a:t>
            </a:r>
            <a:r>
              <a:rPr lang="en-US" dirty="0"/>
              <a:t>, </a:t>
            </a:r>
            <a:r>
              <a:rPr lang="en-US" dirty="0" err="1"/>
              <a:t>aes</a:t>
            </a:r>
            <a:r>
              <a:rPr lang="en-US" dirty="0"/>
              <a:t>(x = G1, y = G3, color = cluster)) +  </a:t>
            </a:r>
            <a:r>
              <a:rPr lang="en-US" dirty="0" err="1"/>
              <a:t>geom_point</a:t>
            </a:r>
            <a:r>
              <a:rPr lang="en-US" dirty="0"/>
              <a:t>() +  labs(title = "K-means Clustering: G1 vs G3", x = "G1 Grade", y = "G3 Grade")</a:t>
            </a:r>
          </a:p>
        </p:txBody>
      </p:sp>
      <p:pic>
        <p:nvPicPr>
          <p:cNvPr id="5" name="Content Placeholder 4" descr="A graph with red and blue dots&#10;&#10;Description automatically generated">
            <a:extLst>
              <a:ext uri="{FF2B5EF4-FFF2-40B4-BE49-F238E27FC236}">
                <a16:creationId xmlns:a16="http://schemas.microsoft.com/office/drawing/2014/main" id="{216BB96E-2FFA-129E-A1B3-B5F1CBEB75AF}"/>
              </a:ext>
            </a:extLst>
          </p:cNvPr>
          <p:cNvPicPr>
            <a:picLocks noGrp="1" noChangeAspect="1"/>
          </p:cNvPicPr>
          <p:nvPr>
            <p:ph sz="half" idx="2"/>
          </p:nvPr>
        </p:nvPicPr>
        <p:blipFill>
          <a:blip r:embed="rId2"/>
          <a:stretch>
            <a:fillRect/>
          </a:stretch>
        </p:blipFill>
        <p:spPr>
          <a:xfrm>
            <a:off x="6530975" y="2438399"/>
            <a:ext cx="4159250" cy="3657601"/>
          </a:xfrm>
          <a:prstGeom prst="rect">
            <a:avLst/>
          </a:prstGeom>
        </p:spPr>
      </p:pic>
    </p:spTree>
    <p:extLst>
      <p:ext uri="{BB962C8B-B14F-4D97-AF65-F5344CB8AC3E}">
        <p14:creationId xmlns:p14="http://schemas.microsoft.com/office/powerpoint/2010/main" val="1572057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730C-8519-3B8D-AB7D-7F9AF1FD3CF4}"/>
              </a:ext>
            </a:extLst>
          </p:cNvPr>
          <p:cNvSpPr>
            <a:spLocks noGrp="1"/>
          </p:cNvSpPr>
          <p:nvPr>
            <p:ph type="title"/>
          </p:nvPr>
        </p:nvSpPr>
        <p:spPr/>
        <p:txBody>
          <a:bodyPr/>
          <a:lstStyle/>
          <a:p>
            <a:r>
              <a:rPr lang="en-US" dirty="0"/>
              <a:t>Text Mining Top 10 words</a:t>
            </a:r>
          </a:p>
        </p:txBody>
      </p:sp>
      <p:sp>
        <p:nvSpPr>
          <p:cNvPr id="3" name="Content Placeholder 2">
            <a:extLst>
              <a:ext uri="{FF2B5EF4-FFF2-40B4-BE49-F238E27FC236}">
                <a16:creationId xmlns:a16="http://schemas.microsoft.com/office/drawing/2014/main" id="{5DE810FB-04B0-8A5D-1540-5B7033914180}"/>
              </a:ext>
            </a:extLst>
          </p:cNvPr>
          <p:cNvSpPr>
            <a:spLocks noGrp="1"/>
          </p:cNvSpPr>
          <p:nvPr>
            <p:ph sz="half"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The most frequent terms in the cleaned text data are identified and displayed. These terms give insights into common words related to students' family jobs.</a:t>
            </a:r>
          </a:p>
          <a:p>
            <a:r>
              <a:rPr lang="en-US" b="1" dirty="0">
                <a:latin typeface="Times New Roman" panose="02020603050405020304" pitchFamily="18" charset="0"/>
                <a:cs typeface="Times New Roman" panose="02020603050405020304" pitchFamily="18" charset="0"/>
              </a:rPr>
              <a:t>Input: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wordcloud</a:t>
            </a:r>
            <a:r>
              <a:rPr lang="en-US" dirty="0">
                <a:latin typeface="Times New Roman" panose="02020603050405020304" pitchFamily="18" charset="0"/>
                <a:cs typeface="Times New Roman" panose="02020603050405020304" pitchFamily="18" charset="0"/>
              </a:rPr>
              <a:t>(words = top_10_terms$word, </a:t>
            </a:r>
            <a:r>
              <a:rPr lang="en-US" dirty="0" err="1">
                <a:latin typeface="Times New Roman" panose="02020603050405020304" pitchFamily="18" charset="0"/>
                <a:cs typeface="Times New Roman" panose="02020603050405020304" pitchFamily="18" charset="0"/>
              </a:rPr>
              <a:t>freq</a:t>
            </a:r>
            <a:r>
              <a:rPr lang="en-US" dirty="0">
                <a:latin typeface="Times New Roman" panose="02020603050405020304" pitchFamily="18" charset="0"/>
                <a:cs typeface="Times New Roman" panose="02020603050405020304" pitchFamily="18" charset="0"/>
              </a:rPr>
              <a:t> = top_10_terms$freq, </a:t>
            </a:r>
            <a:r>
              <a:rPr lang="en-US" dirty="0" err="1">
                <a:latin typeface="Times New Roman" panose="02020603050405020304" pitchFamily="18" charset="0"/>
                <a:cs typeface="Times New Roman" panose="02020603050405020304" pitchFamily="18" charset="0"/>
              </a:rPr>
              <a:t>min.freq</a:t>
            </a:r>
            <a:r>
              <a:rPr lang="en-US" dirty="0">
                <a:latin typeface="Times New Roman" panose="02020603050405020304" pitchFamily="18" charset="0"/>
                <a:cs typeface="Times New Roman" panose="02020603050405020304" pitchFamily="18" charset="0"/>
              </a:rPr>
              <a:t> = 1, scale = c(3, 0.2), colors = </a:t>
            </a:r>
            <a:r>
              <a:rPr lang="en-US" dirty="0" err="1">
                <a:latin typeface="Times New Roman" panose="02020603050405020304" pitchFamily="18" charset="0"/>
                <a:cs typeface="Times New Roman" panose="02020603050405020304" pitchFamily="18" charset="0"/>
              </a:rPr>
              <a:t>brewer.pal</a:t>
            </a:r>
            <a:r>
              <a:rPr lang="en-US" dirty="0">
                <a:latin typeface="Times New Roman" panose="02020603050405020304" pitchFamily="18" charset="0"/>
                <a:cs typeface="Times New Roman" panose="02020603050405020304" pitchFamily="18" charset="0"/>
              </a:rPr>
              <a:t>(8, "Dark2"))</a:t>
            </a:r>
          </a:p>
        </p:txBody>
      </p:sp>
      <p:pic>
        <p:nvPicPr>
          <p:cNvPr id="9" name="Content Placeholder 8">
            <a:extLst>
              <a:ext uri="{FF2B5EF4-FFF2-40B4-BE49-F238E27FC236}">
                <a16:creationId xmlns:a16="http://schemas.microsoft.com/office/drawing/2014/main" id="{F404ED20-F599-51AB-7EC9-BE37DB24FE25}"/>
              </a:ext>
            </a:extLst>
          </p:cNvPr>
          <p:cNvPicPr>
            <a:picLocks noGrp="1" noChangeAspect="1"/>
          </p:cNvPicPr>
          <p:nvPr>
            <p:ph sz="half" idx="2"/>
          </p:nvPr>
        </p:nvPicPr>
        <p:blipFill>
          <a:blip r:embed="rId2"/>
          <a:stretch>
            <a:fillRect/>
          </a:stretch>
        </p:blipFill>
        <p:spPr>
          <a:xfrm>
            <a:off x="6305525" y="2290122"/>
            <a:ext cx="2838475" cy="2100776"/>
          </a:xfrm>
        </p:spPr>
      </p:pic>
      <p:pic>
        <p:nvPicPr>
          <p:cNvPr id="11" name="Picture 10">
            <a:extLst>
              <a:ext uri="{FF2B5EF4-FFF2-40B4-BE49-F238E27FC236}">
                <a16:creationId xmlns:a16="http://schemas.microsoft.com/office/drawing/2014/main" id="{54D2AB7C-924F-89BD-6C09-F036F78DB319}"/>
              </a:ext>
            </a:extLst>
          </p:cNvPr>
          <p:cNvPicPr>
            <a:picLocks noChangeAspect="1"/>
          </p:cNvPicPr>
          <p:nvPr/>
        </p:nvPicPr>
        <p:blipFill>
          <a:blip r:embed="rId3"/>
          <a:stretch>
            <a:fillRect/>
          </a:stretch>
        </p:blipFill>
        <p:spPr>
          <a:xfrm>
            <a:off x="6305525" y="4544454"/>
            <a:ext cx="4273985" cy="1871326"/>
          </a:xfrm>
          <a:prstGeom prst="rect">
            <a:avLst/>
          </a:prstGeom>
        </p:spPr>
      </p:pic>
    </p:spTree>
    <p:extLst>
      <p:ext uri="{BB962C8B-B14F-4D97-AF65-F5344CB8AC3E}">
        <p14:creationId xmlns:p14="http://schemas.microsoft.com/office/powerpoint/2010/main" val="3095127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91A15-FC8D-164C-285D-600B47C328BE}"/>
              </a:ext>
            </a:extLst>
          </p:cNvPr>
          <p:cNvSpPr>
            <a:spLocks noGrp="1"/>
          </p:cNvSpPr>
          <p:nvPr>
            <p:ph type="title"/>
          </p:nvPr>
        </p:nvSpPr>
        <p:spPr/>
        <p:txBody>
          <a:bodyPr/>
          <a:lstStyle/>
          <a:p>
            <a:r>
              <a:rPr lang="en-US" dirty="0"/>
              <a:t>Text Mining</a:t>
            </a:r>
          </a:p>
        </p:txBody>
      </p:sp>
      <p:sp>
        <p:nvSpPr>
          <p:cNvPr id="3" name="Content Placeholder 2">
            <a:extLst>
              <a:ext uri="{FF2B5EF4-FFF2-40B4-BE49-F238E27FC236}">
                <a16:creationId xmlns:a16="http://schemas.microsoft.com/office/drawing/2014/main" id="{F21AF410-C2BC-95EF-DD00-8D31C89188B4}"/>
              </a:ext>
            </a:extLst>
          </p:cNvPr>
          <p:cNvSpPr>
            <a:spLocks noGrp="1"/>
          </p:cNvSpPr>
          <p:nvPr>
            <p:ph sz="half" idx="1"/>
          </p:nvPr>
        </p:nvSpPr>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A word cloud visualization shows the top terms, with the size of each word indicating its frequency. This visual representation helps to quickly grasp the most common terms in the text data.</a:t>
            </a:r>
          </a:p>
          <a:p>
            <a:r>
              <a:rPr lang="en-US" dirty="0">
                <a:latin typeface="Times New Roman" panose="02020603050405020304" pitchFamily="18" charset="0"/>
                <a:cs typeface="Times New Roman" panose="02020603050405020304" pitchFamily="18" charset="0"/>
              </a:rPr>
              <a:t>Input: </a:t>
            </a:r>
            <a:r>
              <a:rPr lang="en-US" dirty="0" err="1">
                <a:latin typeface="Times New Roman" panose="02020603050405020304" pitchFamily="18" charset="0"/>
                <a:cs typeface="Times New Roman" panose="02020603050405020304" pitchFamily="18" charset="0"/>
              </a:rPr>
              <a:t>wordcloud</a:t>
            </a:r>
            <a:r>
              <a:rPr lang="en-US" dirty="0">
                <a:latin typeface="Times New Roman" panose="02020603050405020304" pitchFamily="18" charset="0"/>
                <a:cs typeface="Times New Roman" panose="02020603050405020304" pitchFamily="18" charset="0"/>
              </a:rPr>
              <a:t>(words = top_10_terms$word, </a:t>
            </a:r>
            <a:r>
              <a:rPr lang="en-US" dirty="0" err="1">
                <a:latin typeface="Times New Roman" panose="02020603050405020304" pitchFamily="18" charset="0"/>
                <a:cs typeface="Times New Roman" panose="02020603050405020304" pitchFamily="18" charset="0"/>
              </a:rPr>
              <a:t>freq</a:t>
            </a:r>
            <a:r>
              <a:rPr lang="en-US" dirty="0">
                <a:latin typeface="Times New Roman" panose="02020603050405020304" pitchFamily="18" charset="0"/>
                <a:cs typeface="Times New Roman" panose="02020603050405020304" pitchFamily="18" charset="0"/>
              </a:rPr>
              <a:t> = top_10_terms$freq, </a:t>
            </a:r>
            <a:r>
              <a:rPr lang="en-US" dirty="0" err="1">
                <a:latin typeface="Times New Roman" panose="02020603050405020304" pitchFamily="18" charset="0"/>
                <a:cs typeface="Times New Roman" panose="02020603050405020304" pitchFamily="18" charset="0"/>
              </a:rPr>
              <a:t>min.freq</a:t>
            </a:r>
            <a:r>
              <a:rPr lang="en-US" dirty="0">
                <a:latin typeface="Times New Roman" panose="02020603050405020304" pitchFamily="18" charset="0"/>
                <a:cs typeface="Times New Roman" panose="02020603050405020304" pitchFamily="18" charset="0"/>
              </a:rPr>
              <a:t> = 1, scale = c(3, 0.2), colors = </a:t>
            </a:r>
            <a:r>
              <a:rPr lang="en-US" dirty="0" err="1">
                <a:latin typeface="Times New Roman" panose="02020603050405020304" pitchFamily="18" charset="0"/>
                <a:cs typeface="Times New Roman" panose="02020603050405020304" pitchFamily="18" charset="0"/>
              </a:rPr>
              <a:t>brewer.pal</a:t>
            </a:r>
            <a:r>
              <a:rPr lang="en-US" dirty="0">
                <a:latin typeface="Times New Roman" panose="02020603050405020304" pitchFamily="18" charset="0"/>
                <a:cs typeface="Times New Roman" panose="02020603050405020304" pitchFamily="18" charset="0"/>
              </a:rPr>
              <a:t>(8, "Dark2"))</a:t>
            </a:r>
          </a:p>
        </p:txBody>
      </p:sp>
      <p:pic>
        <p:nvPicPr>
          <p:cNvPr id="5" name="Content Placeholder 4" descr="A screenshot of a computer&#10;&#10;Description automatically generated">
            <a:extLst>
              <a:ext uri="{FF2B5EF4-FFF2-40B4-BE49-F238E27FC236}">
                <a16:creationId xmlns:a16="http://schemas.microsoft.com/office/drawing/2014/main" id="{D6A22FF8-36DF-326B-0B80-3ADF0B89A31B}"/>
              </a:ext>
            </a:extLst>
          </p:cNvPr>
          <p:cNvPicPr>
            <a:picLocks noGrp="1" noChangeAspect="1"/>
          </p:cNvPicPr>
          <p:nvPr>
            <p:ph sz="half" idx="2"/>
          </p:nvPr>
        </p:nvPicPr>
        <p:blipFill>
          <a:blip r:embed="rId2"/>
          <a:stretch>
            <a:fillRect/>
          </a:stretch>
        </p:blipFill>
        <p:spPr>
          <a:xfrm>
            <a:off x="6530975" y="2438399"/>
            <a:ext cx="4159250" cy="3382298"/>
          </a:xfrm>
          <a:prstGeom prst="rect">
            <a:avLst/>
          </a:prstGeom>
        </p:spPr>
      </p:pic>
    </p:spTree>
    <p:extLst>
      <p:ext uri="{BB962C8B-B14F-4D97-AF65-F5344CB8AC3E}">
        <p14:creationId xmlns:p14="http://schemas.microsoft.com/office/powerpoint/2010/main" val="3799933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08CB0-855D-E564-65B3-641730CF13FF}"/>
              </a:ext>
            </a:extLst>
          </p:cNvPr>
          <p:cNvSpPr>
            <a:spLocks noGrp="1"/>
          </p:cNvSpPr>
          <p:nvPr>
            <p:ph type="title"/>
          </p:nvPr>
        </p:nvSpPr>
        <p:spPr/>
        <p:txBody>
          <a:bodyPr/>
          <a:lstStyle/>
          <a:p>
            <a:r>
              <a:rPr lang="en-US" dirty="0"/>
              <a:t>Text Mining</a:t>
            </a:r>
          </a:p>
        </p:txBody>
      </p:sp>
      <p:sp>
        <p:nvSpPr>
          <p:cNvPr id="3" name="Content Placeholder 2">
            <a:extLst>
              <a:ext uri="{FF2B5EF4-FFF2-40B4-BE49-F238E27FC236}">
                <a16:creationId xmlns:a16="http://schemas.microsoft.com/office/drawing/2014/main" id="{71062CB2-45A8-7931-2F80-E9D71202D8F8}"/>
              </a:ext>
            </a:extLst>
          </p:cNvPr>
          <p:cNvSpPr>
            <a:spLocks noGrp="1"/>
          </p:cNvSpPr>
          <p:nvPr>
            <p:ph sz="half" idx="1"/>
          </p:nvPr>
        </p:nvSpPr>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A bar plot shows the frequency of the top 10 words in the text data. This plot helps to quantify and compare the occurrences of the most frequent terms.</a:t>
            </a:r>
          </a:p>
          <a:p>
            <a:r>
              <a:rPr lang="en-US" dirty="0">
                <a:latin typeface="Times New Roman" panose="02020603050405020304" pitchFamily="18" charset="0"/>
                <a:cs typeface="Times New Roman" panose="02020603050405020304" pitchFamily="18" charset="0"/>
              </a:rPr>
              <a:t>Input: # Plot word frequencies for top </a:t>
            </a:r>
            <a:r>
              <a:rPr lang="en-US" dirty="0" err="1">
                <a:latin typeface="Times New Roman" panose="02020603050405020304" pitchFamily="18" charset="0"/>
                <a:cs typeface="Times New Roman" panose="02020603050405020304" pitchFamily="18" charset="0"/>
              </a:rPr>
              <a:t>wordsbarplot</a:t>
            </a:r>
            <a:r>
              <a:rPr lang="en-US" dirty="0">
                <a:latin typeface="Times New Roman" panose="02020603050405020304" pitchFamily="18" charset="0"/>
                <a:cs typeface="Times New Roman" panose="02020603050405020304" pitchFamily="18" charset="0"/>
              </a:rPr>
              <a:t>(top_10_terms$freq, </a:t>
            </a:r>
            <a:r>
              <a:rPr lang="en-US" dirty="0" err="1">
                <a:latin typeface="Times New Roman" panose="02020603050405020304" pitchFamily="18" charset="0"/>
                <a:cs typeface="Times New Roman" panose="02020603050405020304" pitchFamily="18" charset="0"/>
              </a:rPr>
              <a:t>names.arg</a:t>
            </a:r>
            <a:r>
              <a:rPr lang="en-US" dirty="0">
                <a:latin typeface="Times New Roman" panose="02020603050405020304" pitchFamily="18" charset="0"/>
                <a:cs typeface="Times New Roman" panose="02020603050405020304" pitchFamily="18" charset="0"/>
              </a:rPr>
              <a:t> = top_10_terms$word, col = "</a:t>
            </a:r>
            <a:r>
              <a:rPr lang="en-US" dirty="0" err="1">
                <a:latin typeface="Times New Roman" panose="02020603050405020304" pitchFamily="18" charset="0"/>
                <a:cs typeface="Times New Roman" panose="02020603050405020304" pitchFamily="18" charset="0"/>
              </a:rPr>
              <a:t>skyblue</a:t>
            </a:r>
            <a:r>
              <a:rPr lang="en-US" dirty="0">
                <a:latin typeface="Times New Roman" panose="02020603050405020304" pitchFamily="18" charset="0"/>
                <a:cs typeface="Times New Roman" panose="02020603050405020304" pitchFamily="18" charset="0"/>
              </a:rPr>
              <a:t>", main = "Top 10 Words Frequency", </a:t>
            </a:r>
            <a:r>
              <a:rPr lang="en-US" dirty="0" err="1">
                <a:latin typeface="Times New Roman" panose="02020603050405020304" pitchFamily="18" charset="0"/>
                <a:cs typeface="Times New Roman" panose="02020603050405020304" pitchFamily="18" charset="0"/>
              </a:rPr>
              <a:t>xlab</a:t>
            </a:r>
            <a:r>
              <a:rPr lang="en-US" dirty="0">
                <a:latin typeface="Times New Roman" panose="02020603050405020304" pitchFamily="18" charset="0"/>
                <a:cs typeface="Times New Roman" panose="02020603050405020304" pitchFamily="18" charset="0"/>
              </a:rPr>
              <a:t> = "Word", </a:t>
            </a:r>
            <a:r>
              <a:rPr lang="en-US" dirty="0" err="1">
                <a:latin typeface="Times New Roman" panose="02020603050405020304" pitchFamily="18" charset="0"/>
                <a:cs typeface="Times New Roman" panose="02020603050405020304" pitchFamily="18" charset="0"/>
              </a:rPr>
              <a:t>ylab</a:t>
            </a:r>
            <a:r>
              <a:rPr lang="en-US" dirty="0">
                <a:latin typeface="Times New Roman" panose="02020603050405020304" pitchFamily="18" charset="0"/>
                <a:cs typeface="Times New Roman" panose="02020603050405020304" pitchFamily="18" charset="0"/>
              </a:rPr>
              <a:t> = "Frequency")</a:t>
            </a:r>
          </a:p>
        </p:txBody>
      </p:sp>
      <p:pic>
        <p:nvPicPr>
          <p:cNvPr id="5" name="Content Placeholder 4" descr="A screenshot of a computer&#10;&#10;Description automatically generated">
            <a:extLst>
              <a:ext uri="{FF2B5EF4-FFF2-40B4-BE49-F238E27FC236}">
                <a16:creationId xmlns:a16="http://schemas.microsoft.com/office/drawing/2014/main" id="{A693BE95-2F5C-E126-A1F8-A5275F822285}"/>
              </a:ext>
            </a:extLst>
          </p:cNvPr>
          <p:cNvPicPr>
            <a:picLocks noGrp="1" noChangeAspect="1"/>
          </p:cNvPicPr>
          <p:nvPr>
            <p:ph sz="half" idx="2"/>
          </p:nvPr>
        </p:nvPicPr>
        <p:blipFill>
          <a:blip r:embed="rId2"/>
          <a:stretch>
            <a:fillRect/>
          </a:stretch>
        </p:blipFill>
        <p:spPr>
          <a:xfrm>
            <a:off x="6530975" y="2438400"/>
            <a:ext cx="4159250" cy="3529782"/>
          </a:xfrm>
          <a:prstGeom prst="rect">
            <a:avLst/>
          </a:prstGeom>
        </p:spPr>
      </p:pic>
    </p:spTree>
    <p:extLst>
      <p:ext uri="{BB962C8B-B14F-4D97-AF65-F5344CB8AC3E}">
        <p14:creationId xmlns:p14="http://schemas.microsoft.com/office/powerpoint/2010/main" val="479834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950AD4C-6AF3-49F8-94E1-DBCAFB394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hand giving a thumbs up&#10;&#10;Description automatically generated">
            <a:extLst>
              <a:ext uri="{FF2B5EF4-FFF2-40B4-BE49-F238E27FC236}">
                <a16:creationId xmlns:a16="http://schemas.microsoft.com/office/drawing/2014/main" id="{FA8E770C-1526-21B9-C87F-5F5435E158EE}"/>
              </a:ext>
            </a:extLst>
          </p:cNvPr>
          <p:cNvPicPr>
            <a:picLocks noGrp="1" noChangeAspect="1"/>
          </p:cNvPicPr>
          <p:nvPr>
            <p:ph sz="half"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98019946"/>
      </p:ext>
    </p:extLst>
  </p:cSld>
  <p:clrMapOvr>
    <a:masterClrMapping/>
  </p:clrMapOvr>
</p:sld>
</file>

<file path=ppt/theme/theme1.xml><?xml version="1.0" encoding="utf-8"?>
<a:theme xmlns:a="http://schemas.openxmlformats.org/drawingml/2006/main" name="SketchLinesVTI">
  <a:themeElements>
    <a:clrScheme name="SketchLines">
      <a:dk1>
        <a:sysClr val="windowText" lastClr="000000"/>
      </a:dk1>
      <a:lt1>
        <a:sysClr val="window" lastClr="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docProps/app.xml><?xml version="1.0" encoding="utf-8"?>
<Properties xmlns="http://schemas.openxmlformats.org/officeDocument/2006/extended-properties" xmlns:vt="http://schemas.openxmlformats.org/officeDocument/2006/docPropsVTypes">
  <TotalTime>339</TotalTime>
  <Words>957</Words>
  <Application>Microsoft Office PowerPoint</Application>
  <PresentationFormat>Widescreen</PresentationFormat>
  <Paragraphs>60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Meiryo</vt:lpstr>
      <vt:lpstr>Aptos</vt:lpstr>
      <vt:lpstr>Corbel</vt:lpstr>
      <vt:lpstr>Lucida Console</vt:lpstr>
      <vt:lpstr>Times New Roman</vt:lpstr>
      <vt:lpstr>SketchLinesVTI</vt:lpstr>
      <vt:lpstr>Student Performance Analysis</vt:lpstr>
      <vt:lpstr>About Data</vt:lpstr>
      <vt:lpstr>About Data:</vt:lpstr>
      <vt:lpstr>Data Pre-Processing:</vt:lpstr>
      <vt:lpstr>Data Visualization</vt:lpstr>
      <vt:lpstr>Data Visualization:</vt:lpstr>
      <vt:lpstr>Data Visualization</vt:lpstr>
      <vt:lpstr>Association Analysis:</vt:lpstr>
      <vt:lpstr>Clustering:</vt:lpstr>
      <vt:lpstr>K-Mean Clustering</vt:lpstr>
      <vt:lpstr>Text Mining Top 10 words</vt:lpstr>
      <vt:lpstr>Text Mining</vt:lpstr>
      <vt:lpstr>Text Mining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Vaishnavi Dacharaju</dc:creator>
  <cp:lastModifiedBy>Vaishnavi Dacharaju</cp:lastModifiedBy>
  <cp:revision>3</cp:revision>
  <dcterms:created xsi:type="dcterms:W3CDTF">2024-07-15T23:53:42Z</dcterms:created>
  <dcterms:modified xsi:type="dcterms:W3CDTF">2024-07-23T04:04:39Z</dcterms:modified>
</cp:coreProperties>
</file>